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4"/>
    <p:restoredTop sz="94610"/>
  </p:normalViewPr>
  <p:slideViewPr>
    <p:cSldViewPr snapToGrid="0" snapToObjects="1">
      <p:cViewPr varScale="1">
        <p:scale>
          <a:sx n="147" d="100"/>
          <a:sy n="147" d="100"/>
        </p:scale>
        <p:origin x="224"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4023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18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F4F1EA"/>
                </a:solidFill>
                <a:latin typeface="Helvetica Neue" pitchFamily="34" charset="0"/>
                <a:ea typeface="Helvetica Neue" pitchFamily="34" charset="-122"/>
                <a:cs typeface="Helvetica Neue"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43360"/>
            <a:ext cx="10566400" cy="4401840"/>
          </a:xfrm>
          <a:prstGeom prst="rect">
            <a:avLst/>
          </a:prstGeom>
          <a:noFill/>
          <a:ln/>
        </p:spPr>
        <p:txBody>
          <a:bodyPr wrap="square" lIns="0" tIns="0" rIns="0" bIns="0" rtlCol="0" anchor="t"/>
          <a:lstStyle>
            <a:lvl1pPr marL="0" indent="0" algn="l">
              <a:lnSpc>
                <a:spcPct val="140000"/>
              </a:lnSpc>
              <a:buNone/>
              <a:defRPr lang="en-US" sz="1600" dirty="0">
                <a:solidFill>
                  <a:srgbClr val="F4F1EA"/>
                </a:solidFill>
                <a:latin typeface="Helvetica Neue" pitchFamily="34" charset="0"/>
                <a:ea typeface="Helvetica Neue" pitchFamily="34" charset="-122"/>
                <a:cs typeface="Helvetica Neue"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181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F4F1EA"/>
                </a:solidFill>
                <a:latin typeface="Helvetica Neue" pitchFamily="34" charset="0"/>
                <a:ea typeface="Helvetica Neue" pitchFamily="34" charset="-122"/>
                <a:cs typeface="Helvetica Neue"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43360"/>
            <a:ext cx="10566400" cy="4401840"/>
          </a:xfrm>
          <a:prstGeom prst="rect">
            <a:avLst/>
          </a:prstGeom>
          <a:noFill/>
          <a:ln/>
        </p:spPr>
        <p:txBody>
          <a:bodyPr wrap="square" lIns="0" tIns="0" rIns="0" bIns="0" rtlCol="0" anchor="t"/>
          <a:lstStyle>
            <a:lvl1pPr marL="0" indent="0" algn="l">
              <a:lnSpc>
                <a:spcPct val="140000"/>
              </a:lnSpc>
              <a:buNone/>
              <a:defRPr lang="en-US" sz="1600" dirty="0">
                <a:solidFill>
                  <a:srgbClr val="F4F1EA"/>
                </a:solidFill>
                <a:latin typeface="Helvetica Neue" pitchFamily="34" charset="0"/>
                <a:ea typeface="Helvetica Neue" pitchFamily="34" charset="-122"/>
                <a:cs typeface="Helvetica Neue"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a:effectLst/>
      </p:bgPr>
    </p:bg>
    <p:spTree>
      <p:nvGrpSpPr>
        <p:cNvPr id="1" name=""/>
        <p:cNvGrpSpPr/>
        <p:nvPr/>
      </p:nvGrpSpPr>
      <p:grpSpPr>
        <a:xfrm>
          <a:off x="0" y="0"/>
          <a:ext cx="0" cy="0"/>
          <a:chOff x="0" y="0"/>
          <a:chExt cx="0" cy="0"/>
        </a:xfrm>
      </p:grpSpPr>
      <p:sp>
        <p:nvSpPr>
          <p:cNvPr id="2" name="Text 0"/>
          <p:cNvSpPr/>
          <p:nvPr/>
        </p:nvSpPr>
        <p:spPr>
          <a:xfrm>
            <a:off x="812800" y="202565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833A"/>
                </a:solidFill>
                <a:latin typeface="Helvetica Neue" pitchFamily="34" charset="0"/>
                <a:ea typeface="Helvetica Neue" pitchFamily="34" charset="-122"/>
                <a:cs typeface="Helvetica Neue" pitchFamily="34" charset="-120"/>
              </a:rPr>
              <a:t>HARDWARE-SOFTWARE CO-DESIGN · SPRINT 1</a:t>
            </a:r>
            <a:endParaRPr lang="en-US" sz="1600" dirty="0"/>
          </a:p>
        </p:txBody>
      </p:sp>
      <p:sp>
        <p:nvSpPr>
          <p:cNvPr id="3" name="Text 1"/>
          <p:cNvSpPr>
            <a:spLocks noGrp="1"/>
          </p:cNvSpPr>
          <p:nvPr>
            <p:ph type="title"/>
          </p:nvPr>
        </p:nvSpPr>
        <p:spPr>
          <a:xfrm>
            <a:off x="812800" y="2615605"/>
            <a:ext cx="10883392" cy="985490"/>
          </a:xfrm>
          <a:prstGeom prst="rect">
            <a:avLst/>
          </a:prstGeom>
          <a:noFill/>
          <a:ln/>
        </p:spPr>
        <p:txBody>
          <a:bodyPr wrap="square" lIns="0" tIns="0" rIns="0" bIns="0" rtlCol="0" anchor="t">
            <a:normAutofit/>
          </a:bodyPr>
          <a:lstStyle/>
          <a:p>
            <a:pPr marL="0" indent="0" algn="l">
              <a:lnSpc>
                <a:spcPts val="7560"/>
              </a:lnSpc>
              <a:buNone/>
            </a:pPr>
            <a:r>
              <a:rPr lang="en-US" sz="7200" b="1" i="0" dirty="0">
                <a:solidFill>
                  <a:srgbClr val="F4F1EA"/>
                </a:solidFill>
                <a:latin typeface="Helvetica Neue" pitchFamily="34" charset="0"/>
                <a:ea typeface="Helvetica Neue" pitchFamily="34" charset="-122"/>
                <a:cs typeface="Helvetica Neue" pitchFamily="34" charset="-120"/>
              </a:rPr>
              <a:t>ViTAl-Hardware</a:t>
            </a:r>
            <a:endParaRPr lang="en-US" sz="7200" dirty="0"/>
          </a:p>
        </p:txBody>
      </p:sp>
      <p:sp>
        <p:nvSpPr>
          <p:cNvPr id="4" name="Text 2"/>
          <p:cNvSpPr/>
          <p:nvPr/>
        </p:nvSpPr>
        <p:spPr>
          <a:xfrm>
            <a:off x="812800" y="3879850"/>
            <a:ext cx="10883392"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C5BB"/>
                </a:solidFill>
                <a:latin typeface="Helvetica Neue" pitchFamily="34" charset="0"/>
                <a:ea typeface="Helvetica Neue" pitchFamily="34" charset="-122"/>
                <a:cs typeface="Helvetica Neue" pitchFamily="34" charset="-120"/>
              </a:rPr>
              <a:t>Vision Transformer Acceleration Hardware: ViT attention on edge FPGAs for autonomous robotics</a:t>
            </a:r>
            <a:endParaRPr lang="en-US" sz="2200" dirty="0"/>
          </a:p>
        </p:txBody>
      </p:sp>
      <p:sp>
        <p:nvSpPr>
          <p:cNvPr id="5" name="Text 3"/>
          <p:cNvSpPr/>
          <p:nvPr/>
        </p:nvSpPr>
        <p:spPr>
          <a:xfrm>
            <a:off x="812800" y="5265638"/>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5BB"/>
                </a:solidFill>
                <a:latin typeface="Helvetica Neue" pitchFamily="34" charset="0"/>
                <a:ea typeface="Helvetica Neue" pitchFamily="34" charset="-122"/>
                <a:cs typeface="Helvetica Neue" pitchFamily="34" charset="-120"/>
              </a:rPr>
              <a:t>Dominic Murphy · Boston University ECE · EC601 (Solo 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833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375890"/>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4181F"/>
                </a:solidFill>
                <a:latin typeface="Helvetica Neue" pitchFamily="34" charset="0"/>
                <a:ea typeface="Helvetica Neue" pitchFamily="34" charset="-122"/>
                <a:cs typeface="Helvetica Neue" pitchFamily="34" charset="-120"/>
              </a:rPr>
              <a:t>Mission</a:t>
            </a:r>
            <a:endParaRPr lang="en-US" sz="2400" dirty="0"/>
          </a:p>
        </p:txBody>
      </p:sp>
      <p:sp>
        <p:nvSpPr>
          <p:cNvPr id="3" name="Text 1"/>
          <p:cNvSpPr/>
          <p:nvPr/>
        </p:nvSpPr>
        <p:spPr>
          <a:xfrm>
            <a:off x="812800" y="1682229"/>
            <a:ext cx="5694783" cy="3108275"/>
          </a:xfrm>
          <a:prstGeom prst="rect">
            <a:avLst/>
          </a:prstGeom>
          <a:noFill/>
          <a:ln/>
        </p:spPr>
        <p:txBody>
          <a:bodyPr wrap="square" lIns="0" tIns="0" rIns="0" bIns="0" rtlCol="0" anchor="t">
            <a:normAutofit/>
          </a:bodyPr>
          <a:lstStyle/>
          <a:p>
            <a:pPr marL="0" indent="0" algn="l">
              <a:lnSpc>
                <a:spcPts val="3454"/>
              </a:lnSpc>
              <a:buNone/>
            </a:pPr>
            <a:r>
              <a:rPr lang="en-US" sz="2878" dirty="0">
                <a:solidFill>
                  <a:srgbClr val="14181F"/>
                </a:solidFill>
                <a:latin typeface="Helvetica Neue" pitchFamily="34" charset="0"/>
                <a:ea typeface="Helvetica Neue" pitchFamily="34" charset="-122"/>
                <a:cs typeface="Helvetica Neue" pitchFamily="34" charset="-120"/>
              </a:rPr>
              <a:t>Build a </a:t>
            </a:r>
            <a:r>
              <a:rPr lang="en-US" sz="2878" b="1" dirty="0">
                <a:solidFill>
                  <a:srgbClr val="14181F"/>
                </a:solidFill>
                <a:latin typeface="Helvetica Neue" pitchFamily="34" charset="0"/>
                <a:ea typeface="Helvetica Neue" pitchFamily="34" charset="-122"/>
                <a:cs typeface="Helvetica Neue" pitchFamily="34" charset="-120"/>
              </a:rPr>
              <a:t>heterogeneous</a:t>
            </a:r>
            <a:r>
              <a:rPr lang="en-US" sz="2878" dirty="0">
                <a:solidFill>
                  <a:srgbClr val="14181F"/>
                </a:solidFill>
                <a:latin typeface="Helvetica Neue" pitchFamily="34" charset="0"/>
                <a:ea typeface="Helvetica Neue" pitchFamily="34" charset="-122"/>
                <a:cs typeface="Helvetica Neue" pitchFamily="34" charset="-120"/>
              </a:rPr>
              <a:t>, sub-byte quantized streaming attention accelerator on an AMD Zynq SoC that processes ViT patch blocks within a </a:t>
            </a:r>
            <a:r>
              <a:rPr lang="en-US" sz="2878" b="1" dirty="0">
                <a:solidFill>
                  <a:srgbClr val="14181F"/>
                </a:solidFill>
                <a:latin typeface="Helvetica Neue" pitchFamily="34" charset="0"/>
                <a:ea typeface="Helvetica Neue" pitchFamily="34" charset="-122"/>
                <a:cs typeface="Helvetica Neue" pitchFamily="34" charset="-120"/>
              </a:rPr>
              <a:t>deterministic</a:t>
            </a:r>
            <a:r>
              <a:rPr lang="en-US" sz="2878" dirty="0">
                <a:solidFill>
                  <a:srgbClr val="14181F"/>
                </a:solidFill>
                <a:latin typeface="Helvetica Neue" pitchFamily="34" charset="0"/>
                <a:ea typeface="Helvetica Neue" pitchFamily="34" charset="-122"/>
                <a:cs typeface="Helvetica Neue" pitchFamily="34" charset="-120"/>
              </a:rPr>
              <a:t> </a:t>
            </a:r>
            <a:r>
              <a:rPr lang="en-US" sz="2878" b="1" dirty="0">
                <a:solidFill>
                  <a:srgbClr val="C2571A"/>
                </a:solidFill>
                <a:latin typeface="Helvetica Neue" pitchFamily="34" charset="0"/>
                <a:ea typeface="Helvetica Neue" pitchFamily="34" charset="-122"/>
                <a:cs typeface="Helvetica Neue" pitchFamily="34" charset="-120"/>
              </a:rPr>
              <a:t>sub-33 ms deadline</a:t>
            </a:r>
            <a:r>
              <a:rPr lang="en-US" sz="2878" dirty="0">
                <a:solidFill>
                  <a:srgbClr val="14181F"/>
                </a:solidFill>
                <a:latin typeface="Helvetica Neue" pitchFamily="34" charset="0"/>
                <a:ea typeface="Helvetica Neue" pitchFamily="34" charset="-122"/>
                <a:cs typeface="Helvetica Neue" pitchFamily="34" charset="-120"/>
              </a:rPr>
              <a:t> under a </a:t>
            </a:r>
            <a:r>
              <a:rPr lang="en-US" sz="2878" b="1" dirty="0">
                <a:solidFill>
                  <a:srgbClr val="C2571A"/>
                </a:solidFill>
                <a:latin typeface="Helvetica Neue" pitchFamily="34" charset="0"/>
                <a:ea typeface="Helvetica Neue" pitchFamily="34" charset="-122"/>
                <a:cs typeface="Helvetica Neue" pitchFamily="34" charset="-120"/>
              </a:rPr>
              <a:t>5 W thermal envelope</a:t>
            </a:r>
            <a:r>
              <a:rPr lang="en-US" sz="2878" dirty="0">
                <a:solidFill>
                  <a:srgbClr val="14181F"/>
                </a:solidFill>
                <a:latin typeface="Helvetica Neue" pitchFamily="34" charset="0"/>
                <a:ea typeface="Helvetica Neue" pitchFamily="34" charset="-122"/>
                <a:cs typeface="Helvetica Neue" pitchFamily="34" charset="-120"/>
              </a:rPr>
              <a:t>.</a:t>
            </a:r>
            <a:endParaRPr lang="en-US" sz="2878" dirty="0"/>
          </a:p>
        </p:txBody>
      </p:sp>
      <p:sp>
        <p:nvSpPr>
          <p:cNvPr id="4" name="Text 2"/>
          <p:cNvSpPr/>
          <p:nvPr/>
        </p:nvSpPr>
        <p:spPr>
          <a:xfrm>
            <a:off x="812800" y="5714702"/>
            <a:ext cx="10883392"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4181F"/>
                </a:solidFill>
                <a:latin typeface="Helvetica Neue" pitchFamily="34" charset="0"/>
                <a:ea typeface="Helvetica Neue" pitchFamily="34" charset="-122"/>
                <a:cs typeface="Helvetica Neue" pitchFamily="34" charset="-120"/>
              </a:rPr>
              <a:t>Iteration: </a:t>
            </a:r>
            <a:endParaRPr lang="en-US" sz="1500" dirty="0"/>
          </a:p>
          <a:p>
            <a:pPr marL="0" indent="0" algn="l">
              <a:lnSpc>
                <a:spcPts val="2025"/>
              </a:lnSpc>
              <a:buNone/>
            </a:pPr>
            <a:r>
              <a:rPr lang="en-US" sz="1500" dirty="0">
                <a:solidFill>
                  <a:srgbClr val="14181F"/>
                </a:solidFill>
                <a:latin typeface="Helvetica Neue" pitchFamily="34" charset="0"/>
                <a:ea typeface="Helvetica Neue" pitchFamily="34" charset="-122"/>
                <a:cs typeface="Helvetica Neue" pitchFamily="34" charset="-120"/>
              </a:rPr>
              <a:t>Scoped down from a full multi-layer transformer: resource modeling showed non-linear layers plus GEMMs would exceed logic and BRAM limits on the XC7Z020. The focus is the memory-choked Multi-Head Self-Attention score pipeline.</a:t>
            </a:r>
            <a:endParaRPr lang="en-US" sz="1500" dirty="0"/>
          </a:p>
        </p:txBody>
      </p:sp>
      <p:pic>
        <p:nvPicPr>
          <p:cNvPr id="5" name="Image 0" descr="image.png"/>
          <p:cNvPicPr>
            <a:picLocks noChangeAspect="1"/>
          </p:cNvPicPr>
          <p:nvPr/>
        </p:nvPicPr>
        <p:blipFill>
          <a:blip r:embed="rId3"/>
          <a:srcRect l="10467" t="9076" r="9686" b="42349"/>
          <a:stretch/>
        </p:blipFill>
        <p:spPr>
          <a:xfrm>
            <a:off x="6734919" y="1941686"/>
            <a:ext cx="4889599" cy="29746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4181F"/>
                </a:solidFill>
                <a:latin typeface="Helvetica Neue" pitchFamily="34" charset="0"/>
                <a:ea typeface="Helvetica Neue" pitchFamily="34" charset="-122"/>
                <a:cs typeface="Helvetica Neue" pitchFamily="34" charset="-120"/>
              </a:rPr>
              <a:t>User Stories &amp; Sprint 1 Scope</a:t>
            </a:r>
            <a:endParaRPr lang="en-US" sz="3600" dirty="0"/>
          </a:p>
        </p:txBody>
      </p:sp>
      <p:sp>
        <p:nvSpPr>
          <p:cNvPr id="3" name="Shape 1"/>
          <p:cNvSpPr/>
          <p:nvPr/>
        </p:nvSpPr>
        <p:spPr>
          <a:xfrm>
            <a:off x="815975" y="1584325"/>
            <a:ext cx="10560050" cy="508843"/>
          </a:xfrm>
          <a:prstGeom prst="roundRect">
            <a:avLst>
              <a:gd name="adj" fmla="val 14351"/>
            </a:avLst>
          </a:prstGeom>
          <a:solidFill>
            <a:srgbClr val="FFFFFF"/>
          </a:solidFill>
          <a:ln w="6350">
            <a:solidFill>
              <a:srgbClr val="D9D4C8"/>
            </a:solidFill>
            <a:prstDash val="solid"/>
          </a:ln>
        </p:spPr>
        <p:txBody>
          <a:bodyPr/>
          <a:lstStyle/>
          <a:p>
            <a:endParaRPr lang="en-US"/>
          </a:p>
        </p:txBody>
      </p:sp>
      <p:sp>
        <p:nvSpPr>
          <p:cNvPr id="4" name="Text 2"/>
          <p:cNvSpPr/>
          <p:nvPr/>
        </p:nvSpPr>
        <p:spPr>
          <a:xfrm>
            <a:off x="996950" y="1705372"/>
            <a:ext cx="4064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571A"/>
                </a:solidFill>
                <a:latin typeface="Helvetica Neue" pitchFamily="34" charset="0"/>
                <a:ea typeface="Helvetica Neue" pitchFamily="34" charset="-122"/>
                <a:cs typeface="Helvetica Neue" pitchFamily="34" charset="-120"/>
              </a:rPr>
              <a:t>#1</a:t>
            </a:r>
            <a:endParaRPr lang="en-US" sz="1500" dirty="0"/>
          </a:p>
        </p:txBody>
      </p:sp>
      <p:sp>
        <p:nvSpPr>
          <p:cNvPr id="5" name="Text 3"/>
          <p:cNvSpPr/>
          <p:nvPr/>
        </p:nvSpPr>
        <p:spPr>
          <a:xfrm>
            <a:off x="1530350" y="1705372"/>
            <a:ext cx="74300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Toolchain setup &amp; PYNQ-Z2 board bring-up</a:t>
            </a:r>
            <a:endParaRPr lang="en-US" sz="1500" dirty="0"/>
          </a:p>
        </p:txBody>
      </p:sp>
      <p:sp>
        <p:nvSpPr>
          <p:cNvPr id="6" name="Text 4"/>
          <p:cNvSpPr/>
          <p:nvPr/>
        </p:nvSpPr>
        <p:spPr>
          <a:xfrm>
            <a:off x="8921750" y="1723182"/>
            <a:ext cx="876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5 tasks</a:t>
            </a:r>
            <a:endParaRPr lang="en-US" sz="1300" dirty="0"/>
          </a:p>
        </p:txBody>
      </p:sp>
      <p:sp>
        <p:nvSpPr>
          <p:cNvPr id="7" name="Text 5"/>
          <p:cNvSpPr/>
          <p:nvPr/>
        </p:nvSpPr>
        <p:spPr>
          <a:xfrm>
            <a:off x="9934575" y="1675557"/>
            <a:ext cx="1250950" cy="326380"/>
          </a:xfrm>
          <a:custGeom>
            <a:avLst/>
            <a:gdLst/>
            <a:ahLst/>
            <a:cxnLst/>
            <a:rect l="l" t="t" r="r" b="b"/>
            <a:pathLst>
              <a:path w="1250950" h="326380">
                <a:moveTo>
                  <a:pt x="41275" y="0"/>
                </a:moveTo>
                <a:lnTo>
                  <a:pt x="1209675" y="0"/>
                </a:lnTo>
                <a:arcTo wR="41275" hR="41275" stAng="16200000" swAng="5400000"/>
                <a:lnTo>
                  <a:pt x="1250950" y="285105"/>
                </a:lnTo>
                <a:arcTo wR="41275" hR="41275" stAng="0" swAng="5400000"/>
                <a:lnTo>
                  <a:pt x="41275" y="326380"/>
                </a:lnTo>
                <a:arcTo wR="41275" hR="41275" stAng="5400000" swAng="5400000"/>
                <a:lnTo>
                  <a:pt x="0" y="41275"/>
                </a:lnTo>
                <a:arcTo wR="41275" hR="41275" stAng="10800000" swAng="5400000"/>
                <a:close/>
              </a:path>
            </a:pathLst>
          </a:custGeom>
          <a:noFill/>
          <a:ln w="19050">
            <a:solidFill>
              <a:srgbClr val="E8833A"/>
            </a:solidFill>
            <a:prstDash val="solid"/>
          </a:ln>
        </p:spPr>
        <p:txBody>
          <a:bodyPr wrap="square" lIns="9525" tIns="47625" rIns="9525" bIns="22225" rtlCol="0" anchor="t">
            <a:normAutofit/>
          </a:bodyPr>
          <a:lstStyle/>
          <a:p>
            <a:pPr marL="0" indent="0" algn="ctr">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In Procurement</a:t>
            </a:r>
            <a:endParaRPr lang="en-US" sz="1300" dirty="0"/>
          </a:p>
        </p:txBody>
      </p:sp>
      <p:sp>
        <p:nvSpPr>
          <p:cNvPr id="8" name="Shape 6"/>
          <p:cNvSpPr/>
          <p:nvPr/>
        </p:nvSpPr>
        <p:spPr>
          <a:xfrm>
            <a:off x="815975" y="2175718"/>
            <a:ext cx="10560050" cy="484932"/>
          </a:xfrm>
          <a:prstGeom prst="roundRect">
            <a:avLst>
              <a:gd name="adj" fmla="val 15059"/>
            </a:avLst>
          </a:prstGeom>
          <a:solidFill>
            <a:srgbClr val="FFFFFF"/>
          </a:solidFill>
          <a:ln w="6350">
            <a:solidFill>
              <a:srgbClr val="D9D4C8"/>
            </a:solidFill>
            <a:prstDash val="solid"/>
          </a:ln>
        </p:spPr>
        <p:txBody>
          <a:bodyPr/>
          <a:lstStyle/>
          <a:p>
            <a:endParaRPr lang="en-US"/>
          </a:p>
        </p:txBody>
      </p:sp>
      <p:sp>
        <p:nvSpPr>
          <p:cNvPr id="9" name="Text 7"/>
          <p:cNvSpPr/>
          <p:nvPr/>
        </p:nvSpPr>
        <p:spPr>
          <a:xfrm>
            <a:off x="996950" y="2284809"/>
            <a:ext cx="4064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571A"/>
                </a:solidFill>
                <a:latin typeface="Helvetica Neue" pitchFamily="34" charset="0"/>
                <a:ea typeface="Helvetica Neue" pitchFamily="34" charset="-122"/>
                <a:cs typeface="Helvetica Neue" pitchFamily="34" charset="-120"/>
              </a:rPr>
              <a:t>#2</a:t>
            </a:r>
            <a:endParaRPr lang="en-US" sz="1500" dirty="0"/>
          </a:p>
        </p:txBody>
      </p:sp>
      <p:sp>
        <p:nvSpPr>
          <p:cNvPr id="10" name="Text 8"/>
          <p:cNvSpPr/>
          <p:nvPr/>
        </p:nvSpPr>
        <p:spPr>
          <a:xfrm>
            <a:off x="1530350" y="2284809"/>
            <a:ext cx="74300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Isolate ViT attention block &amp; FP32 baseline</a:t>
            </a:r>
            <a:endParaRPr lang="en-US" sz="1500" dirty="0"/>
          </a:p>
        </p:txBody>
      </p:sp>
      <p:sp>
        <p:nvSpPr>
          <p:cNvPr id="11" name="Text 9"/>
          <p:cNvSpPr/>
          <p:nvPr/>
        </p:nvSpPr>
        <p:spPr>
          <a:xfrm>
            <a:off x="8921750" y="2302619"/>
            <a:ext cx="876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4 tasks</a:t>
            </a:r>
            <a:endParaRPr lang="en-US" sz="1300" dirty="0"/>
          </a:p>
        </p:txBody>
      </p:sp>
      <p:sp>
        <p:nvSpPr>
          <p:cNvPr id="13" name="Shape 11"/>
          <p:cNvSpPr/>
          <p:nvPr/>
        </p:nvSpPr>
        <p:spPr>
          <a:xfrm>
            <a:off x="815975" y="2743200"/>
            <a:ext cx="10560050" cy="508843"/>
          </a:xfrm>
          <a:prstGeom prst="roundRect">
            <a:avLst>
              <a:gd name="adj" fmla="val 14351"/>
            </a:avLst>
          </a:prstGeom>
          <a:solidFill>
            <a:srgbClr val="FFFFFF"/>
          </a:solidFill>
          <a:ln w="6350">
            <a:solidFill>
              <a:srgbClr val="D9D4C8"/>
            </a:solidFill>
            <a:prstDash val="solid"/>
          </a:ln>
        </p:spPr>
        <p:txBody>
          <a:bodyPr/>
          <a:lstStyle/>
          <a:p>
            <a:endParaRPr lang="en-US"/>
          </a:p>
        </p:txBody>
      </p:sp>
      <p:sp>
        <p:nvSpPr>
          <p:cNvPr id="14" name="Text 12"/>
          <p:cNvSpPr/>
          <p:nvPr/>
        </p:nvSpPr>
        <p:spPr>
          <a:xfrm>
            <a:off x="996950" y="2864247"/>
            <a:ext cx="4064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571A"/>
                </a:solidFill>
                <a:latin typeface="Helvetica Neue" pitchFamily="34" charset="0"/>
                <a:ea typeface="Helvetica Neue" pitchFamily="34" charset="-122"/>
                <a:cs typeface="Helvetica Neue" pitchFamily="34" charset="-120"/>
              </a:rPr>
              <a:t>#3</a:t>
            </a:r>
            <a:endParaRPr lang="en-US" sz="1500" dirty="0"/>
          </a:p>
        </p:txBody>
      </p:sp>
      <p:sp>
        <p:nvSpPr>
          <p:cNvPr id="15" name="Text 13"/>
          <p:cNvSpPr/>
          <p:nvPr/>
        </p:nvSpPr>
        <p:spPr>
          <a:xfrm>
            <a:off x="1530350" y="2864247"/>
            <a:ext cx="74300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Implement &amp; verify W4A8 asymmetric quantization</a:t>
            </a:r>
            <a:endParaRPr lang="en-US" sz="1500" dirty="0"/>
          </a:p>
        </p:txBody>
      </p:sp>
      <p:sp>
        <p:nvSpPr>
          <p:cNvPr id="16" name="Text 14"/>
          <p:cNvSpPr/>
          <p:nvPr/>
        </p:nvSpPr>
        <p:spPr>
          <a:xfrm>
            <a:off x="8921750" y="2882057"/>
            <a:ext cx="876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4 tasks</a:t>
            </a:r>
            <a:endParaRPr lang="en-US" sz="1300" dirty="0"/>
          </a:p>
        </p:txBody>
      </p:sp>
      <p:sp>
        <p:nvSpPr>
          <p:cNvPr id="17" name="Text 15"/>
          <p:cNvSpPr/>
          <p:nvPr/>
        </p:nvSpPr>
        <p:spPr>
          <a:xfrm>
            <a:off x="9934575" y="2834432"/>
            <a:ext cx="1250950" cy="326380"/>
          </a:xfrm>
          <a:prstGeom prst="roundRect">
            <a:avLst>
              <a:gd name="adj" fmla="val 12646"/>
            </a:avLst>
          </a:prstGeom>
          <a:noFill/>
          <a:ln w="19050">
            <a:solidFill>
              <a:srgbClr val="E8833A"/>
            </a:solidFill>
            <a:prstDash val="solid"/>
          </a:ln>
        </p:spPr>
        <p:txBody>
          <a:bodyPr wrap="square" lIns="0" tIns="35536" rIns="0" bIns="10136" rtlCol="0" anchor="t">
            <a:normAutofit/>
          </a:bodyPr>
          <a:lstStyle/>
          <a:p>
            <a:pPr marL="0" indent="0" algn="ctr">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In Progress</a:t>
            </a:r>
            <a:endParaRPr lang="en-US" sz="1300" dirty="0"/>
          </a:p>
        </p:txBody>
      </p:sp>
      <p:sp>
        <p:nvSpPr>
          <p:cNvPr id="18" name="Shape 16"/>
          <p:cNvSpPr/>
          <p:nvPr/>
        </p:nvSpPr>
        <p:spPr>
          <a:xfrm>
            <a:off x="815975" y="3334593"/>
            <a:ext cx="10560050" cy="508843"/>
          </a:xfrm>
          <a:prstGeom prst="roundRect">
            <a:avLst>
              <a:gd name="adj" fmla="val 14351"/>
            </a:avLst>
          </a:prstGeom>
          <a:solidFill>
            <a:srgbClr val="FFFFFF"/>
          </a:solidFill>
          <a:ln w="6350">
            <a:solidFill>
              <a:srgbClr val="D9D4C8"/>
            </a:solidFill>
            <a:prstDash val="solid"/>
          </a:ln>
        </p:spPr>
        <p:txBody>
          <a:bodyPr/>
          <a:lstStyle/>
          <a:p>
            <a:endParaRPr lang="en-US"/>
          </a:p>
        </p:txBody>
      </p:sp>
      <p:sp>
        <p:nvSpPr>
          <p:cNvPr id="19" name="Text 17"/>
          <p:cNvSpPr/>
          <p:nvPr/>
        </p:nvSpPr>
        <p:spPr>
          <a:xfrm>
            <a:off x="996950" y="3455640"/>
            <a:ext cx="4064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571A"/>
                </a:solidFill>
                <a:latin typeface="Helvetica Neue" pitchFamily="34" charset="0"/>
                <a:ea typeface="Helvetica Neue" pitchFamily="34" charset="-122"/>
                <a:cs typeface="Helvetica Neue" pitchFamily="34" charset="-120"/>
              </a:rPr>
              <a:t>#4</a:t>
            </a:r>
            <a:endParaRPr lang="en-US" sz="1500" dirty="0"/>
          </a:p>
        </p:txBody>
      </p:sp>
      <p:sp>
        <p:nvSpPr>
          <p:cNvPr id="20" name="Text 18"/>
          <p:cNvSpPr/>
          <p:nvPr/>
        </p:nvSpPr>
        <p:spPr>
          <a:xfrm>
            <a:off x="1530350" y="3455640"/>
            <a:ext cx="74300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Bit-accurate Base-2 streaming softmax model</a:t>
            </a:r>
            <a:endParaRPr lang="en-US" sz="1500" dirty="0"/>
          </a:p>
        </p:txBody>
      </p:sp>
      <p:sp>
        <p:nvSpPr>
          <p:cNvPr id="21" name="Text 19"/>
          <p:cNvSpPr/>
          <p:nvPr/>
        </p:nvSpPr>
        <p:spPr>
          <a:xfrm>
            <a:off x="8921750" y="3473450"/>
            <a:ext cx="876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4 tasks</a:t>
            </a:r>
            <a:endParaRPr lang="en-US" sz="1300" dirty="0"/>
          </a:p>
        </p:txBody>
      </p:sp>
      <p:sp>
        <p:nvSpPr>
          <p:cNvPr id="22" name="Text 20"/>
          <p:cNvSpPr/>
          <p:nvPr/>
        </p:nvSpPr>
        <p:spPr>
          <a:xfrm>
            <a:off x="9934575" y="3425825"/>
            <a:ext cx="1250950" cy="326380"/>
          </a:xfrm>
          <a:prstGeom prst="roundRect">
            <a:avLst>
              <a:gd name="adj" fmla="val 12646"/>
            </a:avLst>
          </a:prstGeom>
          <a:noFill/>
          <a:ln w="19050">
            <a:solidFill>
              <a:srgbClr val="C2571A"/>
            </a:solidFill>
            <a:prstDash val="solid"/>
          </a:ln>
        </p:spPr>
        <p:txBody>
          <a:bodyPr wrap="square" lIns="0" tIns="35536" rIns="0" bIns="10136" rtlCol="0" anchor="t">
            <a:normAutofit/>
          </a:bodyPr>
          <a:lstStyle/>
          <a:p>
            <a:pPr marL="0" indent="0" algn="ctr">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In Testing</a:t>
            </a:r>
            <a:endParaRPr lang="en-US" sz="1300" dirty="0"/>
          </a:p>
        </p:txBody>
      </p:sp>
      <p:sp>
        <p:nvSpPr>
          <p:cNvPr id="23" name="Shape 21"/>
          <p:cNvSpPr/>
          <p:nvPr/>
        </p:nvSpPr>
        <p:spPr>
          <a:xfrm>
            <a:off x="815975" y="3925987"/>
            <a:ext cx="10560050" cy="484932"/>
          </a:xfrm>
          <a:prstGeom prst="roundRect">
            <a:avLst>
              <a:gd name="adj" fmla="val 15059"/>
            </a:avLst>
          </a:prstGeom>
          <a:solidFill>
            <a:srgbClr val="FFFFFF"/>
          </a:solidFill>
          <a:ln w="6350">
            <a:solidFill>
              <a:srgbClr val="D9D4C8"/>
            </a:solidFill>
            <a:prstDash val="solid"/>
          </a:ln>
        </p:spPr>
        <p:txBody>
          <a:bodyPr/>
          <a:lstStyle/>
          <a:p>
            <a:endParaRPr lang="en-US"/>
          </a:p>
        </p:txBody>
      </p:sp>
      <p:sp>
        <p:nvSpPr>
          <p:cNvPr id="24" name="Text 22"/>
          <p:cNvSpPr/>
          <p:nvPr/>
        </p:nvSpPr>
        <p:spPr>
          <a:xfrm>
            <a:off x="996950" y="4035078"/>
            <a:ext cx="4064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571A"/>
                </a:solidFill>
                <a:latin typeface="Helvetica Neue" pitchFamily="34" charset="0"/>
                <a:ea typeface="Helvetica Neue" pitchFamily="34" charset="-122"/>
                <a:cs typeface="Helvetica Neue" pitchFamily="34" charset="-120"/>
              </a:rPr>
              <a:t>#5</a:t>
            </a:r>
            <a:endParaRPr lang="en-US" sz="1500" dirty="0"/>
          </a:p>
        </p:txBody>
      </p:sp>
      <p:sp>
        <p:nvSpPr>
          <p:cNvPr id="25" name="Text 23"/>
          <p:cNvSpPr/>
          <p:nvPr/>
        </p:nvSpPr>
        <p:spPr>
          <a:xfrm>
            <a:off x="1530350" y="4035078"/>
            <a:ext cx="74300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Binary golden test vectors for RTL verification</a:t>
            </a:r>
            <a:endParaRPr lang="en-US" sz="1500" dirty="0"/>
          </a:p>
        </p:txBody>
      </p:sp>
      <p:sp>
        <p:nvSpPr>
          <p:cNvPr id="26" name="Text 24"/>
          <p:cNvSpPr/>
          <p:nvPr/>
        </p:nvSpPr>
        <p:spPr>
          <a:xfrm>
            <a:off x="8921750" y="4052888"/>
            <a:ext cx="876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5 tasks</a:t>
            </a:r>
            <a:endParaRPr lang="en-US" sz="1300" dirty="0"/>
          </a:p>
        </p:txBody>
      </p:sp>
      <p:sp>
        <p:nvSpPr>
          <p:cNvPr id="27" name="Text 25"/>
          <p:cNvSpPr/>
          <p:nvPr/>
        </p:nvSpPr>
        <p:spPr>
          <a:xfrm>
            <a:off x="9928225" y="4011613"/>
            <a:ext cx="1263650" cy="313680"/>
          </a:xfrm>
          <a:prstGeom prst="roundRect">
            <a:avLst>
              <a:gd name="adj" fmla="val 15183"/>
            </a:avLst>
          </a:prstGeom>
          <a:noFill/>
          <a:ln w="6350">
            <a:solidFill>
              <a:srgbClr val="9A9486"/>
            </a:solidFill>
            <a:prstDash val="solid"/>
          </a:ln>
        </p:spPr>
        <p:txBody>
          <a:bodyPr wrap="square" lIns="0" tIns="27326" rIns="0" bIns="1926" rtlCol="0" anchor="t">
            <a:normAutofit/>
          </a:bodyPr>
          <a:lstStyle/>
          <a:p>
            <a:pPr marL="0" indent="0" algn="ctr">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To do</a:t>
            </a:r>
            <a:endParaRPr lang="en-US" sz="1300" dirty="0"/>
          </a:p>
        </p:txBody>
      </p:sp>
      <p:sp>
        <p:nvSpPr>
          <p:cNvPr id="28" name="Shape 26"/>
          <p:cNvSpPr/>
          <p:nvPr/>
        </p:nvSpPr>
        <p:spPr>
          <a:xfrm>
            <a:off x="819150" y="4496643"/>
            <a:ext cx="10553700" cy="479375"/>
          </a:xfrm>
          <a:prstGeom prst="roundRect">
            <a:avLst>
              <a:gd name="adj" fmla="val 14571"/>
            </a:avLst>
          </a:prstGeom>
          <a:solidFill>
            <a:srgbClr val="FDEEE0"/>
          </a:solidFill>
          <a:ln w="12700">
            <a:solidFill>
              <a:srgbClr val="E8833A"/>
            </a:solidFill>
            <a:prstDash val="solid"/>
          </a:ln>
        </p:spPr>
        <p:txBody>
          <a:bodyPr/>
          <a:lstStyle/>
          <a:p>
            <a:endParaRPr lang="en-US"/>
          </a:p>
        </p:txBody>
      </p:sp>
      <p:sp>
        <p:nvSpPr>
          <p:cNvPr id="29" name="Text 27"/>
          <p:cNvSpPr/>
          <p:nvPr/>
        </p:nvSpPr>
        <p:spPr>
          <a:xfrm>
            <a:off x="1003300" y="4602956"/>
            <a:ext cx="4064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571A"/>
                </a:solidFill>
                <a:latin typeface="Helvetica Neue" pitchFamily="34" charset="0"/>
                <a:ea typeface="Helvetica Neue" pitchFamily="34" charset="-122"/>
                <a:cs typeface="Helvetica Neue" pitchFamily="34" charset="-120"/>
              </a:rPr>
              <a:t>#6</a:t>
            </a:r>
            <a:endParaRPr lang="en-US" sz="1500" dirty="0"/>
          </a:p>
        </p:txBody>
      </p:sp>
      <p:sp>
        <p:nvSpPr>
          <p:cNvPr id="30" name="Text 28"/>
          <p:cNvSpPr/>
          <p:nvPr/>
        </p:nvSpPr>
        <p:spPr>
          <a:xfrm>
            <a:off x="1536700" y="4602956"/>
            <a:ext cx="741692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Workflow, knowledge management &amp; AI tooling setup</a:t>
            </a:r>
            <a:endParaRPr lang="en-US" sz="1500" dirty="0"/>
          </a:p>
        </p:txBody>
      </p:sp>
      <p:sp>
        <p:nvSpPr>
          <p:cNvPr id="31" name="Text 29"/>
          <p:cNvSpPr/>
          <p:nvPr/>
        </p:nvSpPr>
        <p:spPr>
          <a:xfrm>
            <a:off x="8915400" y="4620766"/>
            <a:ext cx="876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3 tasks</a:t>
            </a:r>
            <a:endParaRPr lang="en-US" sz="1300" dirty="0"/>
          </a:p>
        </p:txBody>
      </p:sp>
      <p:sp>
        <p:nvSpPr>
          <p:cNvPr id="32" name="Text 30"/>
          <p:cNvSpPr/>
          <p:nvPr/>
        </p:nvSpPr>
        <p:spPr>
          <a:xfrm>
            <a:off x="9918700" y="4582666"/>
            <a:ext cx="1270000" cy="307330"/>
          </a:xfrm>
          <a:prstGeom prst="roundRect">
            <a:avLst>
              <a:gd name="adj" fmla="val 16529"/>
            </a:avLst>
          </a:prstGeom>
          <a:solidFill>
            <a:srgbClr val="E8833A"/>
          </a:solidFill>
          <a:ln/>
        </p:spPr>
        <p:txBody>
          <a:bodyPr wrap="square" lIns="0" tIns="23221" rIns="0" bIns="0" rtlCol="0" anchor="t">
            <a:normAutofit/>
          </a:bodyPr>
          <a:lstStyle/>
          <a:p>
            <a:pPr marL="0" indent="0" algn="ctr">
              <a:lnSpc>
                <a:spcPts val="1820"/>
              </a:lnSpc>
              <a:buNone/>
            </a:pPr>
            <a:r>
              <a:rPr lang="en-US" sz="1300" b="1" dirty="0">
                <a:solidFill>
                  <a:srgbClr val="14181F"/>
                </a:solidFill>
                <a:latin typeface="Helvetica Neue" pitchFamily="34" charset="0"/>
                <a:ea typeface="Helvetica Neue" pitchFamily="34" charset="-122"/>
                <a:cs typeface="Helvetica Neue" pitchFamily="34" charset="-120"/>
              </a:rPr>
              <a:t>Complete</a:t>
            </a:r>
            <a:endParaRPr lang="en-US" sz="1300" dirty="0"/>
          </a:p>
        </p:txBody>
      </p:sp>
      <p:sp>
        <p:nvSpPr>
          <p:cNvPr id="33" name="Shape 31"/>
          <p:cNvSpPr/>
          <p:nvPr/>
        </p:nvSpPr>
        <p:spPr>
          <a:xfrm>
            <a:off x="815975" y="5061744"/>
            <a:ext cx="10560050" cy="484981"/>
          </a:xfrm>
          <a:prstGeom prst="roundRect">
            <a:avLst>
              <a:gd name="adj" fmla="val 15057"/>
            </a:avLst>
          </a:prstGeom>
          <a:solidFill>
            <a:srgbClr val="FFFFFF"/>
          </a:solidFill>
          <a:ln w="6350">
            <a:solidFill>
              <a:srgbClr val="D9D4C8"/>
            </a:solidFill>
            <a:prstDash val="solid"/>
          </a:ln>
        </p:spPr>
        <p:txBody>
          <a:bodyPr/>
          <a:lstStyle/>
          <a:p>
            <a:endParaRPr lang="en-US"/>
          </a:p>
        </p:txBody>
      </p:sp>
      <p:sp>
        <p:nvSpPr>
          <p:cNvPr id="40" name="Shape 26">
            <a:extLst>
              <a:ext uri="{FF2B5EF4-FFF2-40B4-BE49-F238E27FC236}">
                <a16:creationId xmlns:a16="http://schemas.microsoft.com/office/drawing/2014/main" id="{31201B64-AA2F-6E44-1C6C-D84392B7A1D9}"/>
              </a:ext>
            </a:extLst>
          </p:cNvPr>
          <p:cNvSpPr/>
          <p:nvPr/>
        </p:nvSpPr>
        <p:spPr>
          <a:xfrm>
            <a:off x="819150" y="5048746"/>
            <a:ext cx="10553700" cy="479375"/>
          </a:xfrm>
          <a:prstGeom prst="roundRect">
            <a:avLst>
              <a:gd name="adj" fmla="val 14571"/>
            </a:avLst>
          </a:prstGeom>
          <a:solidFill>
            <a:srgbClr val="FDEEE0"/>
          </a:solidFill>
          <a:ln w="12700">
            <a:solidFill>
              <a:srgbClr val="E8833A"/>
            </a:solidFill>
            <a:prstDash val="solid"/>
          </a:ln>
        </p:spPr>
        <p:txBody>
          <a:bodyPr/>
          <a:lstStyle/>
          <a:p>
            <a:endParaRPr lang="en-US"/>
          </a:p>
        </p:txBody>
      </p:sp>
      <p:sp>
        <p:nvSpPr>
          <p:cNvPr id="34" name="Text 32"/>
          <p:cNvSpPr/>
          <p:nvPr/>
        </p:nvSpPr>
        <p:spPr>
          <a:xfrm>
            <a:off x="996950" y="5170884"/>
            <a:ext cx="4064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C2571A"/>
                </a:solidFill>
                <a:latin typeface="Helvetica Neue" pitchFamily="34" charset="0"/>
                <a:ea typeface="Helvetica Neue" pitchFamily="34" charset="-122"/>
                <a:cs typeface="Helvetica Neue" pitchFamily="34" charset="-120"/>
              </a:rPr>
              <a:t>#7</a:t>
            </a:r>
            <a:endParaRPr lang="en-US" sz="1500" dirty="0"/>
          </a:p>
        </p:txBody>
      </p:sp>
      <p:sp>
        <p:nvSpPr>
          <p:cNvPr id="35" name="Text 33"/>
          <p:cNvSpPr/>
          <p:nvPr/>
        </p:nvSpPr>
        <p:spPr>
          <a:xfrm>
            <a:off x="1491742" y="5170884"/>
            <a:ext cx="74300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Project definition, feasibility &amp; baseline docs</a:t>
            </a:r>
            <a:endParaRPr lang="en-US" sz="1500" dirty="0"/>
          </a:p>
        </p:txBody>
      </p:sp>
      <p:sp>
        <p:nvSpPr>
          <p:cNvPr id="36" name="Text 34"/>
          <p:cNvSpPr/>
          <p:nvPr/>
        </p:nvSpPr>
        <p:spPr>
          <a:xfrm>
            <a:off x="8921750" y="5188645"/>
            <a:ext cx="8763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4 tasks</a:t>
            </a:r>
            <a:endParaRPr lang="en-US" sz="1300" dirty="0"/>
          </a:p>
        </p:txBody>
      </p:sp>
      <p:sp>
        <p:nvSpPr>
          <p:cNvPr id="38" name="Text 36"/>
          <p:cNvSpPr/>
          <p:nvPr/>
        </p:nvSpPr>
        <p:spPr>
          <a:xfrm>
            <a:off x="1126309" y="5904656"/>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5648"/>
                </a:solidFill>
                <a:latin typeface="Helvetica Neue" pitchFamily="34" charset="0"/>
                <a:ea typeface="Helvetica Neue" pitchFamily="34" charset="-122"/>
                <a:cs typeface="Helvetica Neue" pitchFamily="34" charset="-120"/>
              </a:rPr>
              <a:t>2</a:t>
            </a:r>
            <a:r>
              <a:rPr lang="en-US" sz="1400">
                <a:solidFill>
                  <a:srgbClr val="5B5648"/>
                </a:solidFill>
                <a:latin typeface="Helvetica Neue" pitchFamily="34" charset="0"/>
                <a:ea typeface="Helvetica Neue" pitchFamily="34" charset="-122"/>
                <a:cs typeface="Helvetica Neue" pitchFamily="34" charset="-120"/>
              </a:rPr>
              <a:t> </a:t>
            </a:r>
            <a:r>
              <a:rPr lang="en-US" sz="1400" dirty="0">
                <a:solidFill>
                  <a:srgbClr val="5B5648"/>
                </a:solidFill>
                <a:latin typeface="Helvetica Neue" pitchFamily="34" charset="0"/>
                <a:ea typeface="Helvetica Neue" pitchFamily="34" charset="-122"/>
                <a:cs typeface="Helvetica Neue" pitchFamily="34" charset="-120"/>
              </a:rPr>
              <a:t>of 7 </a:t>
            </a:r>
            <a:r>
              <a:rPr lang="en-US" sz="1400">
                <a:solidFill>
                  <a:srgbClr val="5B5648"/>
                </a:solidFill>
                <a:latin typeface="Helvetica Neue" pitchFamily="34" charset="0"/>
                <a:ea typeface="Helvetica Neue" pitchFamily="34" charset="-122"/>
                <a:cs typeface="Helvetica Neue" pitchFamily="34" charset="-120"/>
              </a:rPr>
              <a:t>issues complete</a:t>
            </a:r>
            <a:endParaRPr lang="en-US" sz="1400" dirty="0"/>
          </a:p>
        </p:txBody>
      </p:sp>
      <p:sp>
        <p:nvSpPr>
          <p:cNvPr id="39" name="Text 15">
            <a:extLst>
              <a:ext uri="{FF2B5EF4-FFF2-40B4-BE49-F238E27FC236}">
                <a16:creationId xmlns:a16="http://schemas.microsoft.com/office/drawing/2014/main" id="{2318401C-AC01-A4A9-BE8F-0C1EB1518B8B}"/>
              </a:ext>
            </a:extLst>
          </p:cNvPr>
          <p:cNvSpPr/>
          <p:nvPr/>
        </p:nvSpPr>
        <p:spPr>
          <a:xfrm>
            <a:off x="9934575" y="2279973"/>
            <a:ext cx="1250950" cy="326380"/>
          </a:xfrm>
          <a:prstGeom prst="roundRect">
            <a:avLst>
              <a:gd name="adj" fmla="val 12646"/>
            </a:avLst>
          </a:prstGeom>
          <a:noFill/>
          <a:ln w="19050">
            <a:solidFill>
              <a:srgbClr val="E8833A"/>
            </a:solidFill>
            <a:prstDash val="solid"/>
          </a:ln>
        </p:spPr>
        <p:txBody>
          <a:bodyPr wrap="square" lIns="0" tIns="35536" rIns="0" bIns="10136" rtlCol="0" anchor="t">
            <a:normAutofit/>
          </a:bodyPr>
          <a:lstStyle/>
          <a:p>
            <a:pPr marL="0" indent="0" algn="ctr">
              <a:lnSpc>
                <a:spcPts val="1820"/>
              </a:lnSpc>
              <a:buNone/>
            </a:pPr>
            <a:r>
              <a:rPr lang="en-US" sz="1300" dirty="0">
                <a:solidFill>
                  <a:srgbClr val="5B5648"/>
                </a:solidFill>
                <a:latin typeface="Helvetica Neue" pitchFamily="34" charset="0"/>
                <a:ea typeface="Helvetica Neue" pitchFamily="34" charset="-122"/>
                <a:cs typeface="Helvetica Neue" pitchFamily="34" charset="-120"/>
              </a:rPr>
              <a:t>In Progress</a:t>
            </a:r>
            <a:endParaRPr lang="en-US" sz="1300" dirty="0"/>
          </a:p>
        </p:txBody>
      </p:sp>
      <p:sp>
        <p:nvSpPr>
          <p:cNvPr id="41" name="Text 30">
            <a:extLst>
              <a:ext uri="{FF2B5EF4-FFF2-40B4-BE49-F238E27FC236}">
                <a16:creationId xmlns:a16="http://schemas.microsoft.com/office/drawing/2014/main" id="{F317C1EF-C3DE-1B7A-461B-AC2314BA5666}"/>
              </a:ext>
            </a:extLst>
          </p:cNvPr>
          <p:cNvSpPr/>
          <p:nvPr/>
        </p:nvSpPr>
        <p:spPr>
          <a:xfrm>
            <a:off x="9921875" y="5134768"/>
            <a:ext cx="1270000" cy="307330"/>
          </a:xfrm>
          <a:prstGeom prst="roundRect">
            <a:avLst>
              <a:gd name="adj" fmla="val 16529"/>
            </a:avLst>
          </a:prstGeom>
          <a:solidFill>
            <a:srgbClr val="E8833A"/>
          </a:solidFill>
          <a:ln/>
        </p:spPr>
        <p:txBody>
          <a:bodyPr wrap="square" lIns="0" tIns="23221" rIns="0" bIns="0" rtlCol="0" anchor="t">
            <a:normAutofit/>
          </a:bodyPr>
          <a:lstStyle/>
          <a:p>
            <a:pPr marL="0" indent="0" algn="ctr">
              <a:lnSpc>
                <a:spcPts val="1820"/>
              </a:lnSpc>
              <a:buNone/>
            </a:pPr>
            <a:r>
              <a:rPr lang="en-US" sz="1300" b="1" dirty="0">
                <a:solidFill>
                  <a:srgbClr val="14181F"/>
                </a:solidFill>
                <a:latin typeface="Helvetica Neue" pitchFamily="34" charset="0"/>
                <a:ea typeface="Helvetica Neue" pitchFamily="34" charset="-122"/>
                <a:cs typeface="Helvetica Neue" pitchFamily="34" charset="-120"/>
              </a:rPr>
              <a:t>Complete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4181F"/>
                </a:solidFill>
                <a:latin typeface="Helvetica Neue" pitchFamily="34" charset="0"/>
                <a:ea typeface="Helvetica Neue" pitchFamily="34" charset="-122"/>
                <a:cs typeface="Helvetica Neue" pitchFamily="34" charset="-120"/>
              </a:rPr>
              <a:t>Toolchain &amp; Environment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56060"/>
          <a:ext cx="10553700" cy="2743200"/>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4181F"/>
                          </a:solidFill>
                          <a:latin typeface="Helvetica Neue" pitchFamily="34" charset="0"/>
                          <a:ea typeface="Helvetica Neue" pitchFamily="34" charset="-122"/>
                          <a:cs typeface="Helvetica Neue" pitchFamily="34" charset="-120"/>
                        </a:rPr>
                        <a:t>Tool</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marL="0" indent="0">
                        <a:lnSpc>
                          <a:spcPts val="2100"/>
                        </a:lnSpc>
                        <a:buNone/>
                      </a:pPr>
                      <a:r>
                        <a:rPr lang="en-US" sz="1500" b="1" dirty="0">
                          <a:solidFill>
                            <a:srgbClr val="14181F"/>
                          </a:solidFill>
                          <a:latin typeface="Helvetica Neue" pitchFamily="34" charset="0"/>
                          <a:ea typeface="Helvetica Neue" pitchFamily="34" charset="-122"/>
                          <a:cs typeface="Helvetica Neue" pitchFamily="34" charset="-120"/>
                        </a:rPr>
                        <a:t>Primary reason</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extLst>
                  <a:ext uri="{0D108BD9-81ED-4DB2-BD59-A6C34878D82A}">
                    <a16:rowId xmlns:a16="http://schemas.microsoft.com/office/drawing/2014/main" val="10000"/>
                  </a:ext>
                </a:extLst>
              </a:tr>
              <a:tr h="679450">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AMD Vivado ML Standard 2023.2</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Free tier supports XC7Z020; timing closure and ILA debugging</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PyTorch</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Golden model, float-to-fixed conversion, outlier profiling</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TUL PYNQ-Z2</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Zynq-7000 SoC with ARM-to-PL AXI interconnect</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Obsidian</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Paper synthesis and prompt logging</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GitHub</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marL="0" indent="0">
                        <a:lnSpc>
                          <a:spcPts val="2100"/>
                        </a:lnSpc>
                        <a:buNone/>
                      </a:pPr>
                      <a:r>
                        <a:rPr lang="en-US" sz="1500" dirty="0">
                          <a:solidFill>
                            <a:srgbClr val="14181F"/>
                          </a:solidFill>
                          <a:latin typeface="Helvetica Neue" pitchFamily="34" charset="0"/>
                          <a:ea typeface="Helvetica Neue" pitchFamily="34" charset="-122"/>
                          <a:cs typeface="Helvetica Neue" pitchFamily="34" charset="-120"/>
                        </a:rPr>
                        <a:t>Issue tracking and version control</a:t>
                      </a:r>
                      <a:endParaRPr lang="en-US" sz="1500" dirty="0">
                        <a:latin typeface="Helvetica Neue" charset="0"/>
                        <a:ea typeface="Helvetica Neue" charset="0"/>
                        <a:cs typeface="Helvetica Neue" charset="0"/>
                      </a:endParaRPr>
                    </a:p>
                  </a:txBody>
                  <a:tcPr marL="66675" marR="66675" marT="66675" marB="66675">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8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4F1EA"/>
                </a:solidFill>
                <a:latin typeface="Helvetica Neue" pitchFamily="34" charset="0"/>
                <a:ea typeface="Helvetica Neue" pitchFamily="34" charset="-122"/>
                <a:cs typeface="Helvetica Neue" pitchFamily="34" charset="-120"/>
              </a:rPr>
              <a:t>Sprint 1 Progress</a:t>
            </a:r>
            <a:endParaRPr lang="en-US" sz="3600" dirty="0"/>
          </a:p>
        </p:txBody>
      </p:sp>
      <p:sp>
        <p:nvSpPr>
          <p:cNvPr id="3" name="Shape 1"/>
          <p:cNvSpPr/>
          <p:nvPr/>
        </p:nvSpPr>
        <p:spPr>
          <a:xfrm>
            <a:off x="812800" y="1643360"/>
            <a:ext cx="3386634" cy="2369790"/>
          </a:xfrm>
          <a:prstGeom prst="roundRect">
            <a:avLst>
              <a:gd name="adj" fmla="val 4287"/>
            </a:avLst>
          </a:prstGeom>
          <a:solidFill>
            <a:srgbClr val="1F2530"/>
          </a:solidFill>
          <a:ln/>
        </p:spPr>
        <p:txBody>
          <a:bodyPr/>
          <a:lstStyle/>
          <a:p>
            <a:endParaRPr lang="en-US"/>
          </a:p>
        </p:txBody>
      </p:sp>
      <p:sp>
        <p:nvSpPr>
          <p:cNvPr id="4" name="Text 2"/>
          <p:cNvSpPr/>
          <p:nvPr/>
        </p:nvSpPr>
        <p:spPr>
          <a:xfrm>
            <a:off x="1066800" y="1897360"/>
            <a:ext cx="296499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8833A"/>
                </a:solidFill>
                <a:latin typeface="Helvetica Neue" pitchFamily="34" charset="0"/>
                <a:ea typeface="Helvetica Neue" pitchFamily="34" charset="-122"/>
                <a:cs typeface="Helvetica Neue" pitchFamily="34" charset="-120"/>
              </a:rPr>
              <a:t>Literature</a:t>
            </a:r>
            <a:endParaRPr lang="en-US" sz="1800" dirty="0"/>
          </a:p>
        </p:txBody>
      </p:sp>
      <p:sp>
        <p:nvSpPr>
          <p:cNvPr id="5" name="Text 3"/>
          <p:cNvSpPr/>
          <p:nvPr/>
        </p:nvSpPr>
        <p:spPr>
          <a:xfrm>
            <a:off x="1066800" y="2273250"/>
            <a:ext cx="2964993" cy="15113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4F1EA"/>
                </a:solidFill>
                <a:latin typeface="Helvetica Neue" pitchFamily="34" charset="0"/>
                <a:ea typeface="Helvetica Neue" pitchFamily="34" charset="-122"/>
                <a:cs typeface="Helvetica Neue" pitchFamily="34" charset="-120"/>
              </a:rPr>
              <a:t>5 foundational papers, including FlashAttention and FlexViT. Key insight: edge FPGA bottlenecks come from memory I/O contention, not arithmetic capacity.</a:t>
            </a:r>
            <a:endParaRPr lang="en-US" sz="1500" dirty="0"/>
          </a:p>
        </p:txBody>
      </p:sp>
      <p:sp>
        <p:nvSpPr>
          <p:cNvPr id="6" name="Shape 4"/>
          <p:cNvSpPr/>
          <p:nvPr/>
        </p:nvSpPr>
        <p:spPr>
          <a:xfrm>
            <a:off x="4402634" y="1643360"/>
            <a:ext cx="3386683" cy="2369790"/>
          </a:xfrm>
          <a:prstGeom prst="roundRect">
            <a:avLst>
              <a:gd name="adj" fmla="val 4287"/>
            </a:avLst>
          </a:prstGeom>
          <a:solidFill>
            <a:srgbClr val="1F2530"/>
          </a:solidFill>
          <a:ln/>
        </p:spPr>
        <p:txBody>
          <a:bodyPr/>
          <a:lstStyle/>
          <a:p>
            <a:endParaRPr lang="en-US"/>
          </a:p>
        </p:txBody>
      </p:sp>
      <p:sp>
        <p:nvSpPr>
          <p:cNvPr id="7" name="Text 5"/>
          <p:cNvSpPr/>
          <p:nvPr/>
        </p:nvSpPr>
        <p:spPr>
          <a:xfrm>
            <a:off x="4656634" y="1897360"/>
            <a:ext cx="296504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8833A"/>
                </a:solidFill>
                <a:latin typeface="Helvetica Neue" pitchFamily="34" charset="0"/>
                <a:ea typeface="Helvetica Neue" pitchFamily="34" charset="-122"/>
                <a:cs typeface="Helvetica Neue" pitchFamily="34" charset="-120"/>
              </a:rPr>
              <a:t>Setup</a:t>
            </a:r>
            <a:endParaRPr lang="en-US" sz="1800" dirty="0"/>
          </a:p>
        </p:txBody>
      </p:sp>
      <p:sp>
        <p:nvSpPr>
          <p:cNvPr id="8" name="Text 6"/>
          <p:cNvSpPr/>
          <p:nvPr/>
        </p:nvSpPr>
        <p:spPr>
          <a:xfrm>
            <a:off x="4656634" y="2273250"/>
            <a:ext cx="2965044" cy="10160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4F1EA"/>
                </a:solidFill>
                <a:latin typeface="Helvetica Neue" pitchFamily="34" charset="0"/>
                <a:ea typeface="Helvetica Neue" pitchFamily="34" charset="-122"/>
                <a:cs typeface="Helvetica Neue" pitchFamily="34" charset="-120"/>
              </a:rPr>
              <a:t>Reproducible Python environment, pending flash to PYNQ-Z2 hardware, configured Obsidian research vault.</a:t>
            </a:r>
            <a:endParaRPr lang="en-US" sz="1500" dirty="0"/>
          </a:p>
        </p:txBody>
      </p:sp>
      <p:sp>
        <p:nvSpPr>
          <p:cNvPr id="9" name="Shape 7"/>
          <p:cNvSpPr/>
          <p:nvPr/>
        </p:nvSpPr>
        <p:spPr>
          <a:xfrm>
            <a:off x="7992517" y="1643360"/>
            <a:ext cx="3386683" cy="2369790"/>
          </a:xfrm>
          <a:prstGeom prst="roundRect">
            <a:avLst>
              <a:gd name="adj" fmla="val 4287"/>
            </a:avLst>
          </a:prstGeom>
          <a:solidFill>
            <a:srgbClr val="1F2530"/>
          </a:solidFill>
          <a:ln/>
        </p:spPr>
        <p:txBody>
          <a:bodyPr/>
          <a:lstStyle/>
          <a:p>
            <a:endParaRPr lang="en-US"/>
          </a:p>
        </p:txBody>
      </p:sp>
      <p:sp>
        <p:nvSpPr>
          <p:cNvPr id="10" name="Text 8"/>
          <p:cNvSpPr/>
          <p:nvPr/>
        </p:nvSpPr>
        <p:spPr>
          <a:xfrm>
            <a:off x="8246517" y="1897360"/>
            <a:ext cx="296504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8833A"/>
                </a:solidFill>
                <a:latin typeface="Helvetica Neue" pitchFamily="34" charset="0"/>
                <a:ea typeface="Helvetica Neue" pitchFamily="34" charset="-122"/>
                <a:cs typeface="Helvetica Neue" pitchFamily="34" charset="-120"/>
              </a:rPr>
              <a:t>What runs today</a:t>
            </a:r>
            <a:endParaRPr lang="en-US" sz="1800" dirty="0"/>
          </a:p>
        </p:txBody>
      </p:sp>
      <p:sp>
        <p:nvSpPr>
          <p:cNvPr id="11" name="Text 9"/>
          <p:cNvSpPr/>
          <p:nvPr/>
        </p:nvSpPr>
        <p:spPr>
          <a:xfrm>
            <a:off x="8246517" y="2273250"/>
            <a:ext cx="2965044" cy="10160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F4F1EA"/>
                </a:solidFill>
                <a:latin typeface="Helvetica Neue" pitchFamily="34" charset="0"/>
                <a:ea typeface="Helvetica Neue" pitchFamily="34" charset="-122"/>
                <a:cs typeface="Helvetica Neue" pitchFamily="34" charset="-120"/>
              </a:rPr>
              <a:t>bit-accurate NumPy/Python simulation of the online running-max and running-sum recurrence equations.</a:t>
            </a:r>
            <a:endParaRPr lang="en-US" sz="1500" dirty="0"/>
          </a:p>
        </p:txBody>
      </p:sp>
      <p:sp>
        <p:nvSpPr>
          <p:cNvPr id="13" name="TextBox 12">
            <a:extLst>
              <a:ext uri="{FF2B5EF4-FFF2-40B4-BE49-F238E27FC236}">
                <a16:creationId xmlns:a16="http://schemas.microsoft.com/office/drawing/2014/main" id="{5D39947C-C051-E677-7B57-D046BC8BF11C}"/>
              </a:ext>
            </a:extLst>
          </p:cNvPr>
          <p:cNvSpPr txBox="1"/>
          <p:nvPr/>
        </p:nvSpPr>
        <p:spPr>
          <a:xfrm>
            <a:off x="722811" y="4208094"/>
            <a:ext cx="6096000" cy="346249"/>
          </a:xfrm>
          <a:prstGeom prst="rect">
            <a:avLst/>
          </a:prstGeom>
          <a:noFill/>
        </p:spPr>
        <p:txBody>
          <a:bodyPr wrap="square">
            <a:spAutoFit/>
          </a:bodyPr>
          <a:lstStyle/>
          <a:p>
            <a:r>
              <a:rPr lang="en-US" sz="1800" b="1" i="0">
                <a:solidFill>
                  <a:schemeClr val="tx1"/>
                </a:solidFill>
                <a:effectLst/>
                <a:latin typeface="+mn-lt"/>
              </a:rPr>
              <a:t>NumPy model vs. PyTorch Softmax</a:t>
            </a:r>
            <a:endParaRPr lang="en-US"/>
          </a:p>
        </p:txBody>
      </p:sp>
      <p:sp>
        <p:nvSpPr>
          <p:cNvPr id="14" name="Shape 1">
            <a:extLst>
              <a:ext uri="{FF2B5EF4-FFF2-40B4-BE49-F238E27FC236}">
                <a16:creationId xmlns:a16="http://schemas.microsoft.com/office/drawing/2014/main" id="{935F180A-8B55-B4AC-5DE5-FD705DB3E142}"/>
              </a:ext>
            </a:extLst>
          </p:cNvPr>
          <p:cNvSpPr/>
          <p:nvPr/>
        </p:nvSpPr>
        <p:spPr>
          <a:xfrm>
            <a:off x="812800" y="4749287"/>
            <a:ext cx="2879634" cy="1573631"/>
          </a:xfrm>
          <a:prstGeom prst="roundRect">
            <a:avLst>
              <a:gd name="adj" fmla="val 4287"/>
            </a:avLst>
          </a:prstGeom>
          <a:solidFill>
            <a:schemeClr val="tx2"/>
          </a:solidFill>
          <a:ln/>
        </p:spPr>
        <p:txBody>
          <a:bodyPr/>
          <a:lstStyle/>
          <a:p>
            <a:r>
              <a:rPr lang="en-US" sz="1400" b="1">
                <a:solidFill>
                  <a:schemeClr val="bg1"/>
                </a:solidFill>
              </a:rPr>
              <a:t>SOFTMAX PROBABILITIES</a:t>
            </a:r>
          </a:p>
          <a:p>
            <a:r>
              <a:rPr lang="en-US"/>
              <a:t>0.00229 </a:t>
            </a:r>
          </a:p>
          <a:p>
            <a:r>
              <a:rPr lang="en-US">
                <a:solidFill>
                  <a:schemeClr val="bg1"/>
                </a:solidFill>
              </a:rPr>
              <a:t>MAX ABS ERROR · PASS</a:t>
            </a:r>
            <a:r>
              <a:rPr lang="en-US"/>
              <a:t> </a:t>
            </a:r>
            <a:r>
              <a:rPr lang="en-US" sz="1200"/>
              <a:t>allowed: 2% relative + 0.0002 absolute</a:t>
            </a:r>
          </a:p>
        </p:txBody>
      </p:sp>
      <p:sp>
        <p:nvSpPr>
          <p:cNvPr id="18" name="Shape 1">
            <a:extLst>
              <a:ext uri="{FF2B5EF4-FFF2-40B4-BE49-F238E27FC236}">
                <a16:creationId xmlns:a16="http://schemas.microsoft.com/office/drawing/2014/main" id="{906B14F6-6500-FEC4-D00C-ADA1031098B2}"/>
              </a:ext>
            </a:extLst>
          </p:cNvPr>
          <p:cNvSpPr/>
          <p:nvPr/>
        </p:nvSpPr>
        <p:spPr>
          <a:xfrm>
            <a:off x="4057918" y="4749287"/>
            <a:ext cx="2879634" cy="1573631"/>
          </a:xfrm>
          <a:prstGeom prst="roundRect">
            <a:avLst>
              <a:gd name="adj" fmla="val 4287"/>
            </a:avLst>
          </a:prstGeom>
          <a:solidFill>
            <a:schemeClr val="tx2"/>
          </a:solidFill>
          <a:ln/>
        </p:spPr>
        <p:txBody>
          <a:bodyPr/>
          <a:lstStyle/>
          <a:p>
            <a:r>
              <a:rPr lang="en-US" sz="1400" b="1">
                <a:solidFill>
                  <a:schemeClr val="bg1"/>
                </a:solidFill>
              </a:rPr>
              <a:t>STREAMING ATTENTION OUTPUTS</a:t>
            </a:r>
          </a:p>
          <a:p>
            <a:r>
              <a:rPr lang="en-US"/>
              <a:t>0.00116 </a:t>
            </a:r>
          </a:p>
          <a:p>
            <a:r>
              <a:rPr lang="en-US">
                <a:solidFill>
                  <a:schemeClr val="bg1"/>
                </a:solidFill>
              </a:rPr>
              <a:t>MAX ABS ERROR · PASS</a:t>
            </a:r>
            <a:r>
              <a:rPr lang="en-US"/>
              <a:t> </a:t>
            </a:r>
            <a:r>
              <a:rPr lang="en-US" sz="1200"/>
              <a:t>allowed: 2.5% relative + 0.002 absolute</a:t>
            </a:r>
          </a:p>
        </p:txBody>
      </p:sp>
      <p:sp>
        <p:nvSpPr>
          <p:cNvPr id="19" name="Shape 1">
            <a:extLst>
              <a:ext uri="{FF2B5EF4-FFF2-40B4-BE49-F238E27FC236}">
                <a16:creationId xmlns:a16="http://schemas.microsoft.com/office/drawing/2014/main" id="{977A2C20-46DC-3436-92AE-50D0BF757104}"/>
              </a:ext>
            </a:extLst>
          </p:cNvPr>
          <p:cNvSpPr/>
          <p:nvPr/>
        </p:nvSpPr>
        <p:spPr>
          <a:xfrm>
            <a:off x="7303036" y="4749287"/>
            <a:ext cx="2879634" cy="1573631"/>
          </a:xfrm>
          <a:prstGeom prst="roundRect">
            <a:avLst>
              <a:gd name="adj" fmla="val 4287"/>
            </a:avLst>
          </a:prstGeom>
          <a:solidFill>
            <a:schemeClr val="tx2"/>
          </a:solidFill>
          <a:ln/>
        </p:spPr>
        <p:txBody>
          <a:bodyPr/>
          <a:lstStyle/>
          <a:p>
            <a:r>
              <a:rPr lang="en-US" sz="1400" b="1">
                <a:solidFill>
                  <a:schemeClr val="bg1"/>
                </a:solidFill>
              </a:rPr>
              <a:t>STREAMING / STORAGE CHECK</a:t>
            </a:r>
          </a:p>
          <a:p>
            <a:r>
              <a:rPr lang="en-US" sz="1400"/>
              <a:t>NO N × N SCORE MATRIX</a:t>
            </a:r>
          </a:p>
          <a:p>
            <a:r>
              <a:rPr lang="en-US" sz="1200" b="1">
                <a:solidFill>
                  <a:schemeClr val="bg1"/>
                </a:solidFill>
              </a:rPr>
              <a:t>TILE SIZES 13 AND 64 → IDENTICAL OUTPUT</a:t>
            </a:r>
          </a:p>
          <a:p>
            <a:r>
              <a:rPr lang="en-US" sz="1200"/>
              <a:t>196 keys · 32-d query · 16-d output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4181F"/>
                </a:solidFill>
                <a:latin typeface="Helvetica Neue" pitchFamily="34" charset="0"/>
                <a:ea typeface="Helvetica Neue" pitchFamily="34" charset="-122"/>
                <a:cs typeface="Helvetica Neue" pitchFamily="34" charset="-120"/>
              </a:rPr>
              <a:t>Engineering Reflection</a:t>
            </a:r>
            <a:endParaRPr lang="en-US" sz="3600" dirty="0"/>
          </a:p>
        </p:txBody>
      </p:sp>
      <p:sp>
        <p:nvSpPr>
          <p:cNvPr id="3" name="Shape 1"/>
          <p:cNvSpPr/>
          <p:nvPr/>
        </p:nvSpPr>
        <p:spPr>
          <a:xfrm>
            <a:off x="812800" y="1643360"/>
            <a:ext cx="5181600" cy="2423765"/>
          </a:xfrm>
          <a:prstGeom prst="roundRect">
            <a:avLst>
              <a:gd name="adj" fmla="val 4192"/>
            </a:avLst>
          </a:prstGeom>
          <a:solidFill>
            <a:srgbClr val="E6E1D4"/>
          </a:solidFill>
          <a:ln/>
        </p:spPr>
        <p:txBody>
          <a:bodyPr/>
          <a:lstStyle/>
          <a:p>
            <a:endParaRPr lang="en-US"/>
          </a:p>
        </p:txBody>
      </p:sp>
      <p:sp>
        <p:nvSpPr>
          <p:cNvPr id="4" name="Text 2"/>
          <p:cNvSpPr/>
          <p:nvPr/>
        </p:nvSpPr>
        <p:spPr>
          <a:xfrm>
            <a:off x="1117600" y="1948160"/>
            <a:ext cx="470916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B5648"/>
                </a:solidFill>
                <a:latin typeface="Helvetica Neue" pitchFamily="34" charset="0"/>
                <a:ea typeface="Helvetica Neue" pitchFamily="34" charset="-122"/>
                <a:cs typeface="Helvetica Neue" pitchFamily="34" charset="-120"/>
              </a:rPr>
              <a:t>Initial assumption</a:t>
            </a:r>
            <a:endParaRPr lang="en-US" sz="1800" dirty="0"/>
          </a:p>
        </p:txBody>
      </p:sp>
      <p:sp>
        <p:nvSpPr>
          <p:cNvPr id="5" name="Text 3"/>
          <p:cNvSpPr/>
          <p:nvPr/>
        </p:nvSpPr>
        <p:spPr>
          <a:xfrm>
            <a:off x="1117600" y="2349450"/>
            <a:ext cx="4709160" cy="91688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4181F"/>
                </a:solidFill>
                <a:latin typeface="Helvetica Neue" pitchFamily="34" charset="0"/>
                <a:ea typeface="Helvetica Neue" pitchFamily="34" charset="-122"/>
                <a:cs typeface="Helvetica Neue" pitchFamily="34" charset="-120"/>
              </a:rPr>
              <a:t>Symmetric 4-bit quantization (W4A4) would suffice for both weights and activations.</a:t>
            </a:r>
            <a:endParaRPr lang="en-US" sz="1800" dirty="0"/>
          </a:p>
        </p:txBody>
      </p:sp>
      <p:sp>
        <p:nvSpPr>
          <p:cNvPr id="6" name="Shape 4"/>
          <p:cNvSpPr/>
          <p:nvPr/>
        </p:nvSpPr>
        <p:spPr>
          <a:xfrm>
            <a:off x="6197600" y="1643360"/>
            <a:ext cx="5181600" cy="2423765"/>
          </a:xfrm>
          <a:prstGeom prst="roundRect">
            <a:avLst>
              <a:gd name="adj" fmla="val 4192"/>
            </a:avLst>
          </a:prstGeom>
          <a:solidFill>
            <a:srgbClr val="14181F"/>
          </a:solidFill>
          <a:ln/>
        </p:spPr>
        <p:txBody>
          <a:bodyPr/>
          <a:lstStyle/>
          <a:p>
            <a:endParaRPr lang="en-US"/>
          </a:p>
        </p:txBody>
      </p:sp>
      <p:sp>
        <p:nvSpPr>
          <p:cNvPr id="7" name="Text 5"/>
          <p:cNvSpPr/>
          <p:nvPr/>
        </p:nvSpPr>
        <p:spPr>
          <a:xfrm>
            <a:off x="6502400" y="1948160"/>
            <a:ext cx="470916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8833A"/>
                </a:solidFill>
                <a:latin typeface="Helvetica Neue" pitchFamily="34" charset="0"/>
                <a:ea typeface="Helvetica Neue" pitchFamily="34" charset="-122"/>
                <a:cs typeface="Helvetica Neue" pitchFamily="34" charset="-120"/>
              </a:rPr>
              <a:t>Empirical reality</a:t>
            </a:r>
            <a:endParaRPr lang="en-US" sz="1800" dirty="0"/>
          </a:p>
        </p:txBody>
      </p:sp>
      <p:sp>
        <p:nvSpPr>
          <p:cNvPr id="8" name="Text 6"/>
          <p:cNvSpPr/>
          <p:nvPr/>
        </p:nvSpPr>
        <p:spPr>
          <a:xfrm>
            <a:off x="6502400" y="2349450"/>
            <a:ext cx="4709160"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Helvetica Neue" pitchFamily="34" charset="0"/>
                <a:ea typeface="Helvetica Neue" pitchFamily="34" charset="-122"/>
                <a:cs typeface="Helvetica Neue" pitchFamily="34" charset="-120"/>
              </a:rPr>
              <a:t>Activation channels have massive magnitude spikes. 4-bit activations clipped low-intensity spatial features to zero, and hazard recall dropped sharply.</a:t>
            </a:r>
            <a:endParaRPr lang="en-US" sz="1500" dirty="0"/>
          </a:p>
        </p:txBody>
      </p:sp>
      <p:sp>
        <p:nvSpPr>
          <p:cNvPr id="9" name="Text 7"/>
          <p:cNvSpPr/>
          <p:nvPr/>
        </p:nvSpPr>
        <p:spPr>
          <a:xfrm>
            <a:off x="6502400" y="3247975"/>
            <a:ext cx="470916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Helvetica Neue" pitchFamily="34" charset="0"/>
                <a:ea typeface="Helvetica Neue" pitchFamily="34" charset="-122"/>
                <a:cs typeface="Helvetica Neue" pitchFamily="34" charset="-120"/>
              </a:rPr>
              <a:t>Fix: keep 8-bit activations (W4A8) and rely on 4-bit weight packing for the 50% bus reduction.</a:t>
            </a:r>
            <a:endParaRPr lang="en-US" sz="1500" dirty="0"/>
          </a:p>
        </p:txBody>
      </p:sp>
      <p:sp>
        <p:nvSpPr>
          <p:cNvPr id="10" name="Shape 7">
            <a:extLst>
              <a:ext uri="{FF2B5EF4-FFF2-40B4-BE49-F238E27FC236}">
                <a16:creationId xmlns:a16="http://schemas.microsoft.com/office/drawing/2014/main" id="{DC51FFE4-2651-0E48-B18F-F37520BEEF36}"/>
              </a:ext>
            </a:extLst>
          </p:cNvPr>
          <p:cNvSpPr/>
          <p:nvPr/>
        </p:nvSpPr>
        <p:spPr>
          <a:xfrm>
            <a:off x="812800" y="4462810"/>
            <a:ext cx="10566400" cy="1582390"/>
          </a:xfrm>
          <a:prstGeom prst="roundRect">
            <a:avLst>
              <a:gd name="adj" fmla="val 6421"/>
            </a:avLst>
          </a:prstGeom>
          <a:solidFill>
            <a:srgbClr val="E8833A"/>
          </a:solidFill>
          <a:ln/>
        </p:spPr>
        <p:txBody>
          <a:bodyPr/>
          <a:lstStyle/>
          <a:p>
            <a:r>
              <a:rPr lang="en-US" sz="1200"/>
              <a:t>Created base2_softmax.py, implementing a Q15 exponential with a 64-entry fractional LUT, fixed-point score quantization, and the online max/sum recurrence. Its attention path processes key/value blocks and avoids materializing an N×N score matrix. </a:t>
            </a:r>
          </a:p>
          <a:p>
            <a:endParaRPr lang="en-US" sz="1200"/>
          </a:p>
          <a:p>
            <a:r>
              <a:rPr lang="en-US" sz="1200"/>
              <a:t>Validation passed: python3 base2_softmax.py --self-test verified the LUT, recurrence, normalization, and PyTorch Softmax comparisons; python3 -m py_compile base2_softmax.py and git diff --check also passed. PyTorch parity is numerical within the test tolerances—not bit-identical to floating-point Softmax, because the LUT and fixed-point arithmetic are approximations.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4F1EA"/>
                </a:solidFill>
                <a:latin typeface="Helvetica Neue" pitchFamily="34" charset="0"/>
                <a:ea typeface="Helvetica Neue" pitchFamily="34" charset="-122"/>
                <a:cs typeface="Helvetica Neue" pitchFamily="34" charset="-120"/>
              </a:rPr>
              <a:t>Sprint 2 Goals &amp; Blockers</a:t>
            </a:r>
            <a:endParaRPr lang="en-US" sz="3600" dirty="0"/>
          </a:p>
        </p:txBody>
      </p:sp>
      <p:sp>
        <p:nvSpPr>
          <p:cNvPr id="3" name="Shape 1"/>
          <p:cNvSpPr/>
          <p:nvPr/>
        </p:nvSpPr>
        <p:spPr>
          <a:xfrm>
            <a:off x="812800" y="1643360"/>
            <a:ext cx="5181600" cy="1655415"/>
          </a:xfrm>
          <a:prstGeom prst="roundRect">
            <a:avLst>
              <a:gd name="adj" fmla="val 6137"/>
            </a:avLst>
          </a:prstGeom>
          <a:solidFill>
            <a:srgbClr val="1F2530"/>
          </a:solidFill>
          <a:ln/>
        </p:spPr>
        <p:txBody>
          <a:bodyPr/>
          <a:lstStyle/>
          <a:p>
            <a:endParaRPr lang="en-US"/>
          </a:p>
        </p:txBody>
      </p:sp>
      <p:sp>
        <p:nvSpPr>
          <p:cNvPr id="4" name="Text 2"/>
          <p:cNvSpPr/>
          <p:nvPr/>
        </p:nvSpPr>
        <p:spPr>
          <a:xfrm>
            <a:off x="1066800" y="189736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8833A"/>
                </a:solidFill>
                <a:latin typeface="Helvetica Neue" pitchFamily="34" charset="0"/>
                <a:ea typeface="Helvetica Neue" pitchFamily="34" charset="-122"/>
                <a:cs typeface="Helvetica Neue" pitchFamily="34" charset="-120"/>
              </a:rPr>
              <a:t>Demo goal</a:t>
            </a:r>
            <a:endParaRPr lang="en-US" sz="1800" dirty="0"/>
          </a:p>
        </p:txBody>
      </p:sp>
      <p:sp>
        <p:nvSpPr>
          <p:cNvPr id="5" name="Text 3"/>
          <p:cNvSpPr/>
          <p:nvPr/>
        </p:nvSpPr>
        <p:spPr>
          <a:xfrm>
            <a:off x="1066800" y="2273250"/>
            <a:ext cx="4813808"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Helvetica Neue" pitchFamily="34" charset="0"/>
                <a:ea typeface="Helvetica Neue" pitchFamily="34" charset="-122"/>
                <a:cs typeface="Helvetica Neue" pitchFamily="34" charset="-120"/>
              </a:rPr>
              <a:t>Write, simulate and verify synthesizable SystemVerilog RTL for the sub-byte unpacker and DSP48-mapped MAC array in Vivado xsim.</a:t>
            </a:r>
            <a:endParaRPr lang="en-US" sz="1500" dirty="0"/>
          </a:p>
        </p:txBody>
      </p:sp>
      <p:sp>
        <p:nvSpPr>
          <p:cNvPr id="6" name="Shape 4"/>
          <p:cNvSpPr/>
          <p:nvPr/>
        </p:nvSpPr>
        <p:spPr>
          <a:xfrm>
            <a:off x="6197600" y="1643360"/>
            <a:ext cx="5181600" cy="1655415"/>
          </a:xfrm>
          <a:prstGeom prst="roundRect">
            <a:avLst>
              <a:gd name="adj" fmla="val 6137"/>
            </a:avLst>
          </a:prstGeom>
          <a:solidFill>
            <a:srgbClr val="1F2530"/>
          </a:solidFill>
          <a:ln/>
        </p:spPr>
        <p:txBody>
          <a:bodyPr/>
          <a:lstStyle/>
          <a:p>
            <a:endParaRPr lang="en-US"/>
          </a:p>
        </p:txBody>
      </p:sp>
      <p:sp>
        <p:nvSpPr>
          <p:cNvPr id="7" name="Text 5"/>
          <p:cNvSpPr/>
          <p:nvPr/>
        </p:nvSpPr>
        <p:spPr>
          <a:xfrm>
            <a:off x="6451600" y="189736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8833A"/>
                </a:solidFill>
                <a:latin typeface="Helvetica Neue" pitchFamily="34" charset="0"/>
                <a:ea typeface="Helvetica Neue" pitchFamily="34" charset="-122"/>
                <a:cs typeface="Helvetica Neue" pitchFamily="34" charset="-120"/>
              </a:rPr>
              <a:t>Where we are stuck</a:t>
            </a:r>
            <a:endParaRPr lang="en-US" sz="1800" dirty="0"/>
          </a:p>
        </p:txBody>
      </p:sp>
      <p:sp>
        <p:nvSpPr>
          <p:cNvPr id="8" name="Text 6"/>
          <p:cNvSpPr/>
          <p:nvPr/>
        </p:nvSpPr>
        <p:spPr>
          <a:xfrm>
            <a:off x="6451600" y="2273250"/>
            <a:ext cx="4813808"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4F1EA"/>
                </a:solidFill>
                <a:latin typeface="Helvetica Neue" pitchFamily="34" charset="0"/>
                <a:ea typeface="Helvetica Neue" pitchFamily="34" charset="-122"/>
                <a:cs typeface="Helvetica Neue" pitchFamily="34" charset="-120"/>
              </a:rPr>
              <a:t>Have not yet procured the hardware to test out the FPGA SystemVerilog. Need more time capacity in Sprint 2 in order to meet Vivado simulation goals. </a:t>
            </a:r>
            <a:endParaRPr lang="en-US" sz="1500" dirty="0"/>
          </a:p>
        </p:txBody>
      </p:sp>
      <p:sp>
        <p:nvSpPr>
          <p:cNvPr id="9" name="Shape 7"/>
          <p:cNvSpPr/>
          <p:nvPr/>
        </p:nvSpPr>
        <p:spPr>
          <a:xfrm>
            <a:off x="812800" y="3603575"/>
            <a:ext cx="10566400" cy="2239876"/>
          </a:xfrm>
          <a:prstGeom prst="roundRect">
            <a:avLst>
              <a:gd name="adj" fmla="val 6421"/>
            </a:avLst>
          </a:prstGeom>
          <a:solidFill>
            <a:srgbClr val="E8833A"/>
          </a:solidFill>
          <a:ln/>
        </p:spPr>
        <p:txBody>
          <a:bodyPr/>
          <a:lstStyle/>
          <a:p>
            <a:endParaRPr lang="en-US"/>
          </a:p>
        </p:txBody>
      </p:sp>
      <p:sp>
        <p:nvSpPr>
          <p:cNvPr id="10" name="Text 8"/>
          <p:cNvSpPr/>
          <p:nvPr/>
        </p:nvSpPr>
        <p:spPr>
          <a:xfrm>
            <a:off x="1066800" y="3857575"/>
            <a:ext cx="1036015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181F"/>
                </a:solidFill>
                <a:latin typeface="Helvetica Neue" pitchFamily="34" charset="0"/>
                <a:ea typeface="Helvetica Neue" pitchFamily="34" charset="-122"/>
                <a:cs typeface="Helvetica Neue" pitchFamily="34" charset="-120"/>
              </a:rPr>
              <a:t>Plan Moving Forward</a:t>
            </a:r>
            <a:endParaRPr lang="en-US" sz="1800" dirty="0"/>
          </a:p>
        </p:txBody>
      </p:sp>
      <p:sp>
        <p:nvSpPr>
          <p:cNvPr id="11" name="Text 9"/>
          <p:cNvSpPr/>
          <p:nvPr/>
        </p:nvSpPr>
        <p:spPr>
          <a:xfrm>
            <a:off x="1144270" y="4131866"/>
            <a:ext cx="10275062" cy="2519014"/>
          </a:xfrm>
          <a:prstGeom prst="rect">
            <a:avLst/>
          </a:prstGeom>
          <a:noFill/>
          <a:ln/>
        </p:spPr>
        <p:txBody>
          <a:bodyPr wrap="square" lIns="0" tIns="0" rIns="0" bIns="0" rtlCol="0" anchor="t">
            <a:normAutofit/>
          </a:bodyPr>
          <a:lstStyle/>
          <a:p>
            <a:pPr marL="176530" indent="-176530" algn="l">
              <a:lnSpc>
                <a:spcPts val="2100"/>
              </a:lnSpc>
              <a:buSzPct val="100000"/>
              <a:buChar char="•"/>
            </a:pPr>
            <a:r>
              <a:rPr lang="en-US" sz="1500" dirty="0">
                <a:solidFill>
                  <a:srgbClr val="FAF9F5"/>
                </a:solidFill>
                <a:latin typeface="Helvetica Neue" pitchFamily="34" charset="0"/>
                <a:ea typeface="Helvetica Neue" pitchFamily="34" charset="-122"/>
                <a:cs typeface="Helvetica Neue" pitchFamily="34" charset="-120"/>
              </a:rPr>
              <a:t>Redirect additional 7 hours weekly</a:t>
            </a:r>
            <a:endParaRPr lang="en-US" sz="1500" dirty="0"/>
          </a:p>
          <a:p>
            <a:pPr marL="176530" indent="-176530" algn="l">
              <a:lnSpc>
                <a:spcPts val="2100"/>
              </a:lnSpc>
              <a:buSzPct val="100000"/>
              <a:buChar char="•"/>
            </a:pPr>
            <a:r>
              <a:rPr lang="en-US" sz="1500" dirty="0">
                <a:solidFill>
                  <a:srgbClr val="FAF9F5"/>
                </a:solidFill>
                <a:latin typeface="Helvetica Neue" pitchFamily="34" charset="0"/>
                <a:ea typeface="Helvetica Neue" pitchFamily="34" charset="-122"/>
                <a:cs typeface="Helvetica Neue" pitchFamily="34" charset="-120"/>
              </a:rPr>
              <a:t>Work with Osama to procure hardware</a:t>
            </a:r>
            <a:endParaRPr lang="en-US" sz="1500" dirty="0"/>
          </a:p>
          <a:p>
            <a:pPr marL="176530" indent="-176530" algn="l">
              <a:lnSpc>
                <a:spcPts val="2100"/>
              </a:lnSpc>
              <a:buSzPct val="100000"/>
              <a:buChar char="•"/>
            </a:pPr>
            <a:r>
              <a:rPr lang="en-US" sz="1500" dirty="0">
                <a:solidFill>
                  <a:srgbClr val="FAF9F5"/>
                </a:solidFill>
                <a:latin typeface="Helvetica Neue" pitchFamily="34" charset="0"/>
                <a:ea typeface="Helvetica Neue" pitchFamily="34" charset="-122"/>
                <a:cs typeface="Helvetica Neue" pitchFamily="34" charset="-120"/>
              </a:rPr>
              <a:t>Prepare tests and firmware tooling for out of the box testing </a:t>
            </a:r>
            <a:r>
              <a:rPr lang="en-US" sz="1500">
                <a:solidFill>
                  <a:srgbClr val="FAF9F5"/>
                </a:solidFill>
                <a:latin typeface="Helvetica Neue" pitchFamily="34" charset="0"/>
                <a:ea typeface="Helvetica Neue" pitchFamily="34" charset="-122"/>
                <a:cs typeface="Helvetica Neue" pitchFamily="34" charset="-120"/>
              </a:rPr>
              <a:t>once procured</a:t>
            </a:r>
          </a:p>
          <a:p>
            <a:pPr marL="176530" indent="-176530">
              <a:buSzPct val="100000"/>
              <a:buChar char="•"/>
            </a:pPr>
            <a:r>
              <a:rPr lang="en-US" sz="1600"/>
              <a:t>Big assumption here is that this softmax trick WILL be faster when implemented on RTL in the co-design architecture. This will need to be tested. From this simulation we know the algorithm will be accurate, but is it more time and power efficient vs the memory extensive attention score Softmax.</a:t>
            </a:r>
            <a:endParaRPr lang="en-US" sz="1500">
              <a:solidFill>
                <a:srgbClr val="FAF9F5"/>
              </a:solidFill>
              <a:latin typeface="Helvetica Neue" pitchFamily="34" charset="0"/>
              <a:ea typeface="Helvetica Neue" pitchFamily="34" charset="-122"/>
              <a:cs typeface="Helvetica Neue" pitchFamily="34" charset="-120"/>
            </a:endParaRPr>
          </a:p>
          <a:p>
            <a:pPr marL="176530" indent="-176530" algn="l">
              <a:lnSpc>
                <a:spcPts val="2100"/>
              </a:lnSpc>
              <a:buSzPct val="100000"/>
              <a:buChar char="•"/>
            </a:pPr>
            <a:endParaRPr lang="en-US" sz="1500">
              <a:solidFill>
                <a:srgbClr val="FAF9F5"/>
              </a:solidFill>
              <a:latin typeface="Helvetica Neue" pitchFamily="34" charset="0"/>
              <a:ea typeface="Helvetica Neue" pitchFamily="34" charset="-122"/>
              <a:cs typeface="Helvetica Neue" pitchFamily="34" charset="-120"/>
            </a:endParaRPr>
          </a:p>
          <a:p>
            <a:pPr marL="176530" indent="-176530" algn="l">
              <a:lnSpc>
                <a:spcPct val="100000"/>
              </a:lnSpc>
              <a:buSzPct val="100000"/>
              <a:buChar char="•"/>
            </a:pPr>
            <a:endParaRPr lang="en-US" sz="1500" dirty="0"/>
          </a:p>
        </p:txBody>
      </p:sp>
    </p:spTree>
  </p:cSld>
  <p:clrMapOvr>
    <a:masterClrMapping/>
  </p:clrMapOvr>
</p:sld>
</file>

<file path=ppt/theme/theme1.xml><?xml version="1.0" encoding="utf-8"?>
<a:theme xmlns:a="http://schemas.openxmlformats.org/drawingml/2006/main" name="Edge-ViT-Acc">
  <a:themeElements>
    <a:clrScheme name="Edge-ViT-Acc">
      <a:dk1>
        <a:srgbClr val="14181F"/>
      </a:dk1>
      <a:lt1>
        <a:srgbClr val="F4F1EA"/>
      </a:lt1>
      <a:dk2>
        <a:srgbClr val="2A2E33"/>
      </a:dk2>
      <a:lt2>
        <a:srgbClr val="BCBBB7"/>
      </a:lt2>
      <a:accent1>
        <a:srgbClr val="E8833A"/>
      </a:accent1>
      <a:accent2>
        <a:srgbClr val="C2571A"/>
      </a:accent2>
      <a:accent3>
        <a:srgbClr val="5B5648"/>
      </a:accent3>
      <a:accent4>
        <a:srgbClr val="C9C5BB"/>
      </a:accent4>
      <a:accent5>
        <a:srgbClr val="9AA0A6"/>
      </a:accent5>
      <a:accent6>
        <a:srgbClr val="9A9A99"/>
      </a:accent6>
      <a:hlink>
        <a:srgbClr val="0563C1"/>
      </a:hlink>
      <a:folHlink>
        <a:srgbClr val="954F72"/>
      </a:folHlink>
    </a:clrScheme>
    <a:fontScheme name="Edge-ViT-Acc">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701</Words>
  <Application>Microsoft Macintosh PowerPoint</Application>
  <PresentationFormat>Widescreen</PresentationFormat>
  <Paragraphs>95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Helvetica Neue</vt:lpstr>
      <vt:lpstr>Edge-ViT-Acc</vt:lpstr>
      <vt:lpstr>ViTAl-Hardware</vt:lpstr>
      <vt:lpstr>Mission</vt:lpstr>
      <vt:lpstr>User Stories &amp; Sprint 1 Scope</vt:lpstr>
      <vt:lpstr>Toolchain &amp; Environment</vt:lpstr>
      <vt:lpstr>Sprint 1 Progress</vt:lpstr>
      <vt:lpstr>Engineering Reflection</vt:lpstr>
      <vt:lpstr>Sprint 2 Goals &amp; Blockers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Edge-ViT-Acc</dc:title>
  <dc:subject/>
  <dc:creator/>
  <cp:lastModifiedBy>Murphy, Dominic</cp:lastModifiedBy>
  <cp:revision>4</cp:revision>
  <dcterms:created xsi:type="dcterms:W3CDTF">2026-10-14T15:55:51Z</dcterms:created>
  <dcterms:modified xsi:type="dcterms:W3CDTF">2026-10-14T19:10:01Z</dcterms:modified>
</cp:coreProperties>
</file>