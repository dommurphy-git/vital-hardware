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643360"/>
            <a:ext cx="10566400" cy="44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812800"/>
            <a:ext cx="10566400" cy="52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643360"/>
            <a:ext cx="10566400" cy="440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256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HARDWARE-SOFTWARE CO-DESIGN · SPRINT 1</a:t>
            </a:r>
            <a:endParaRPr lang="en-US" sz="16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615605"/>
            <a:ext cx="10883392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1" i="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ViTAl-Hardware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812800" y="3879850"/>
            <a:ext cx="10883392" cy="751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C9C5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 Transformer Acceleration Hardware: ViT attention on edge FPGAs for autonomous robotics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265638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5B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Dominic Murphy · Boston University ECE · EC601 (Solo Project)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8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12800" y="1682229"/>
            <a:ext cx="5694783" cy="3108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4"/>
              </a:lnSpc>
              <a:buNone/>
            </a:pP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</a:t>
            </a:r>
            <a:r>
              <a:rPr lang="en-US" sz="2878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heterogeneous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sub-byte quantized streaming attention accelerator on an AMD Zynq SoC that processes ViT patch blocks within a </a:t>
            </a:r>
            <a:r>
              <a:rPr lang="en-US" sz="2878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deterministic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2878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sub-33 ms deadline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under a </a:t>
            </a:r>
            <a:r>
              <a:rPr lang="en-US" sz="2878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W thermal envelope</a:t>
            </a:r>
            <a:r>
              <a:rPr lang="en-US" sz="2878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2878" dirty="0"/>
          </a:p>
        </p:txBody>
      </p:sp>
      <p:sp>
        <p:nvSpPr>
          <p:cNvPr id="4" name="Text 2"/>
          <p:cNvSpPr/>
          <p:nvPr/>
        </p:nvSpPr>
        <p:spPr>
          <a:xfrm>
            <a:off x="812800" y="5714702"/>
            <a:ext cx="10883392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Iteration: </a:t>
            </a:r>
            <a:endParaRPr lang="en-US" sz="1500" dirty="0"/>
          </a:p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Scoped down from a full multi-layer transformer: resource modeling showed non-linear layers plus GEMMs would exceed logic and BRAM limits on the XC7Z020. The focus is the memory-choked Multi-Head Self-Attention score pipeline.</a:t>
            </a:r>
            <a:endParaRPr lang="en-US" sz="1500" dirty="0"/>
          </a:p>
        </p:txBody>
      </p:sp>
      <p:pic>
        <p:nvPicPr>
          <p:cNvPr id="5" name="Image 0" descr="image.png">    </p:cNvPr>
          <p:cNvPicPr>
            <a:picLocks noChangeAspect="1"/>
          </p:cNvPicPr>
          <p:nvPr/>
        </p:nvPicPr>
        <p:blipFill>
          <a:blip r:embed="rId1"/>
          <a:srcRect l="10467" r="9686" t="9076" b="42349"/>
          <a:stretch/>
        </p:blipFill>
        <p:spPr>
          <a:xfrm>
            <a:off x="6734919" y="1941686"/>
            <a:ext cx="4889599" cy="29746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 Stories &amp; Sprint 1 Scope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84325"/>
            <a:ext cx="10560050" cy="508843"/>
          </a:xfrm>
          <a:prstGeom prst="roundRect">
            <a:avLst>
              <a:gd name="adj" fmla="val 14351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6950" y="1705372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30350" y="1705372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Toolchain setup &amp; PYNQ-Z2 board bring-up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21750" y="1723182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tasks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934575" y="1675557"/>
            <a:ext cx="1250950" cy="326380"/>
          </a:xfrm>
          <a:custGeom>
            <a:avLst/>
            <a:gdLst/>
            <a:ahLst/>
            <a:cxnLst/>
            <a:rect l="l" t="t" r="r" b="b"/>
            <a:pathLst>
              <a:path w="1250950" h="326380">
                <a:moveTo>
                  <a:pt x="41275" y="0"/>
                </a:moveTo>
                <a:lnTo>
                  <a:pt x="1209675" y="0"/>
                </a:lnTo>
                <a:arcTo hR="41275" wR="41275" stAng="16200000" swAng="5400000"/>
                <a:lnTo>
                  <a:pt x="1250950" y="285105"/>
                </a:lnTo>
                <a:arcTo hR="41275" wR="41275" stAng="0" swAng="5400000"/>
                <a:lnTo>
                  <a:pt x="41275" y="326380"/>
                </a:lnTo>
                <a:arcTo hR="41275" wR="41275" stAng="5400000" swAng="5400000"/>
                <a:lnTo>
                  <a:pt x="0" y="41275"/>
                </a:lnTo>
                <a:arcTo hR="41275" wR="41275" stAng="10800000" swAng="5400000"/>
                <a:close/>
              </a:path>
            </a:pathLst>
          </a:custGeom>
          <a:noFill/>
          <a:ln w="19050">
            <a:solidFill>
              <a:srgbClr val="E8833A"/>
            </a:solidFill>
            <a:prstDash val="solid"/>
          </a:ln>
        </p:spPr>
        <p:txBody>
          <a:bodyPr wrap="square" lIns="9525" tIns="47625" rIns="9525" bIns="22225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Procurement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15975" y="2175718"/>
            <a:ext cx="10560050" cy="484932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950" y="2284809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530350" y="2284809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Isolate ViT attention block &amp; FP32 baseline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21750" y="2302619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928225" y="2261344"/>
            <a:ext cx="1263650" cy="313680"/>
          </a:xfrm>
          <a:prstGeom prst="roundRect">
            <a:avLst>
              <a:gd name="adj" fmla="val 15183"/>
            </a:avLst>
          </a:prstGeom>
          <a:noFill/>
          <a:ln w="6350">
            <a:solidFill>
              <a:srgbClr val="9A9486"/>
            </a:solidFill>
            <a:prstDash val="solid"/>
          </a:ln>
        </p:spPr>
        <p:txBody>
          <a:bodyPr wrap="square" lIns="0" tIns="27326" rIns="0" bIns="1926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975" y="2743200"/>
            <a:ext cx="10560050" cy="508843"/>
          </a:xfrm>
          <a:prstGeom prst="roundRect">
            <a:avLst>
              <a:gd name="adj" fmla="val 14351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6950" y="2864247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30350" y="2864247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Implement &amp; verify W4A8 asymmetric quantization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21750" y="2882057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934575" y="2834432"/>
            <a:ext cx="1250950" cy="326380"/>
          </a:xfrm>
          <a:prstGeom prst="roundRect">
            <a:avLst>
              <a:gd name="adj" fmla="val 12646"/>
            </a:avLst>
          </a:prstGeom>
          <a:noFill/>
          <a:ln w="19050">
            <a:solidFill>
              <a:srgbClr val="E8833A"/>
            </a:solidFill>
            <a:prstDash val="solid"/>
          </a:ln>
        </p:spPr>
        <p:txBody>
          <a:bodyPr wrap="square" lIns="0" tIns="35536" rIns="0" bIns="10136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5975" y="3334593"/>
            <a:ext cx="10560050" cy="508843"/>
          </a:xfrm>
          <a:prstGeom prst="roundRect">
            <a:avLst>
              <a:gd name="adj" fmla="val 14351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950" y="3455640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30350" y="3455640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Bit-accurate Base-2 streaming softmax model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21750" y="3473450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34575" y="3425825"/>
            <a:ext cx="1250950" cy="326380"/>
          </a:xfrm>
          <a:prstGeom prst="roundRect">
            <a:avLst>
              <a:gd name="adj" fmla="val 12646"/>
            </a:avLst>
          </a:prstGeom>
          <a:noFill/>
          <a:ln w="19050">
            <a:solidFill>
              <a:srgbClr val="C2571A"/>
            </a:solidFill>
            <a:prstDash val="solid"/>
          </a:ln>
        </p:spPr>
        <p:txBody>
          <a:bodyPr wrap="square" lIns="0" tIns="35536" rIns="0" bIns="10136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Testing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5975" y="3925987"/>
            <a:ext cx="10560050" cy="484932"/>
          </a:xfrm>
          <a:prstGeom prst="roundRect">
            <a:avLst>
              <a:gd name="adj" fmla="val 15059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6950" y="4035078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30350" y="4035078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Binary golden test vectors for RTL verification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21750" y="4052888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tasks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928225" y="4011613"/>
            <a:ext cx="1263650" cy="313680"/>
          </a:xfrm>
          <a:prstGeom prst="roundRect">
            <a:avLst>
              <a:gd name="adj" fmla="val 15183"/>
            </a:avLst>
          </a:prstGeom>
          <a:noFill/>
          <a:ln w="6350">
            <a:solidFill>
              <a:srgbClr val="9A9486"/>
            </a:solidFill>
            <a:prstDash val="solid"/>
          </a:ln>
        </p:spPr>
        <p:txBody>
          <a:bodyPr wrap="square" lIns="0" tIns="27326" rIns="0" bIns="1926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do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9150" y="4496643"/>
            <a:ext cx="10553700" cy="479375"/>
          </a:xfrm>
          <a:prstGeom prst="roundRect">
            <a:avLst>
              <a:gd name="adj" fmla="val 14571"/>
            </a:avLst>
          </a:prstGeom>
          <a:solidFill>
            <a:srgbClr val="FDEEE0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3300" y="4602956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536700" y="4602956"/>
            <a:ext cx="74169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Workflow, knowledge management &amp; AI tooling setup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915400" y="4620766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tasks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18700" y="4582666"/>
            <a:ext cx="1270000" cy="307330"/>
          </a:xfrm>
          <a:prstGeom prst="roundRect">
            <a:avLst>
              <a:gd name="adj" fmla="val 16529"/>
            </a:avLst>
          </a:prstGeom>
          <a:solidFill>
            <a:srgbClr val="E8833A"/>
          </a:solidFill>
          <a:ln/>
        </p:spPr>
        <p:txBody>
          <a:bodyPr wrap="square" lIns="0" tIns="23221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Complete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15975" y="5061744"/>
            <a:ext cx="10560050" cy="484981"/>
          </a:xfrm>
          <a:prstGeom prst="roundRect">
            <a:avLst>
              <a:gd name="adj" fmla="val 15057"/>
            </a:avLst>
          </a:prstGeom>
          <a:solidFill>
            <a:srgbClr val="FFFFFF"/>
          </a:solidFill>
          <a:ln w="6350">
            <a:solidFill>
              <a:srgbClr val="D9D4C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6950" y="5170884"/>
            <a:ext cx="406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257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#7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30350" y="5170884"/>
            <a:ext cx="743000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Project definition, feasibility &amp; baseline docs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921750" y="5188645"/>
            <a:ext cx="8763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tasks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928225" y="5147419"/>
            <a:ext cx="1263650" cy="313680"/>
          </a:xfrm>
          <a:prstGeom prst="roundRect">
            <a:avLst>
              <a:gd name="adj" fmla="val 15183"/>
            </a:avLst>
          </a:prstGeom>
          <a:noFill/>
          <a:ln w="6350">
            <a:solidFill>
              <a:srgbClr val="9A9486"/>
            </a:solidFill>
            <a:prstDash val="solid"/>
          </a:ln>
        </p:spPr>
        <p:txBody>
          <a:bodyPr wrap="square" lIns="0" tIns="27326" rIns="0" bIns="1926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do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12800" y="579755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of 7 issues complete · Issue #6 delivered: Obsidian vault, MOC and prompts_and_logs/ archive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Toolchain &amp; Environment</a:t>
            </a:r>
            <a:endParaRPr lang="en-US" sz="3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56060"/>
          <a:ext cx="10553700" cy="2743200"/>
        </p:xfrm>
        <a:graphic>
          <a:graphicData uri="http://schemas.openxmlformats.org/drawingml/2006/table">
            <a:tbl>
              <a:tblPr/>
              <a:tblGrid>
                <a:gridCol w="5276850"/>
                <a:gridCol w="5276850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Tool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1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Primary reason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6794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AMD Vivado ML Standard 2023.2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Free tier supports XC7Z020; timing closure and ILA debugging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PyTorch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Golden model, float-to-fixed conversion, outlier profiling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TUL PYNQ-Z2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Zynq-7000 SoC with ARM-to-PL AXI interconnect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Obsidian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Paper synthesis and prompt logging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GitHub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4181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Issue tracking and version control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Sprint 1 Progress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43360"/>
            <a:ext cx="3386634" cy="2369790"/>
          </a:xfrm>
          <a:prstGeom prst="roundRect">
            <a:avLst>
              <a:gd name="adj" fmla="val 4287"/>
            </a:avLst>
          </a:prstGeom>
          <a:solidFill>
            <a:srgbClr val="1F2530"/>
          </a:solidFill>
          <a:ln/>
        </p:spPr>
      </p:sp>
      <p:sp>
        <p:nvSpPr>
          <p:cNvPr id="4" name="Text 2"/>
          <p:cNvSpPr/>
          <p:nvPr/>
        </p:nvSpPr>
        <p:spPr>
          <a:xfrm>
            <a:off x="1066800" y="1897360"/>
            <a:ext cx="296499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Literature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6800" y="2273250"/>
            <a:ext cx="2964993" cy="151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foundational papers, including FlashAttention and FlexViT. Key insight: edge FPGA bottlenecks come from memory I/O contention, not arithmetic capacity.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02634" y="1643360"/>
            <a:ext cx="3386683" cy="2369790"/>
          </a:xfrm>
          <a:prstGeom prst="roundRect">
            <a:avLst>
              <a:gd name="adj" fmla="val 4287"/>
            </a:avLst>
          </a:prstGeom>
          <a:solidFill>
            <a:srgbClr val="1F2530"/>
          </a:solidFill>
          <a:ln/>
        </p:spPr>
      </p:sp>
      <p:sp>
        <p:nvSpPr>
          <p:cNvPr id="7" name="Text 5"/>
          <p:cNvSpPr/>
          <p:nvPr/>
        </p:nvSpPr>
        <p:spPr>
          <a:xfrm>
            <a:off x="4656634" y="1897360"/>
            <a:ext cx="296504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Setup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656634" y="2273250"/>
            <a:ext cx="29650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Reproducible Python environment, pending flash to PYNQ-Z2 hardware, configured Obsidian research vault.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992517" y="1643360"/>
            <a:ext cx="3386683" cy="2369790"/>
          </a:xfrm>
          <a:prstGeom prst="roundRect">
            <a:avLst>
              <a:gd name="adj" fmla="val 4287"/>
            </a:avLst>
          </a:prstGeom>
          <a:solidFill>
            <a:srgbClr val="1F2530"/>
          </a:solidFill>
          <a:ln/>
        </p:spPr>
      </p:sp>
      <p:sp>
        <p:nvSpPr>
          <p:cNvPr id="10" name="Text 8"/>
          <p:cNvSpPr/>
          <p:nvPr/>
        </p:nvSpPr>
        <p:spPr>
          <a:xfrm>
            <a:off x="8246517" y="1897360"/>
            <a:ext cx="296504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runs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46517" y="2273250"/>
            <a:ext cx="2965044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bit-accurate NumPy/Python simulation of the online running-max and running-sum recurrence equations.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Engineering Reflection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43360"/>
            <a:ext cx="5181600" cy="2423765"/>
          </a:xfrm>
          <a:prstGeom prst="roundRect">
            <a:avLst>
              <a:gd name="adj" fmla="val 4192"/>
            </a:avLst>
          </a:prstGeom>
          <a:solidFill>
            <a:srgbClr val="E6E1D4"/>
          </a:solidFill>
          <a:ln/>
        </p:spPr>
      </p:sp>
      <p:sp>
        <p:nvSpPr>
          <p:cNvPr id="4" name="Text 2"/>
          <p:cNvSpPr/>
          <p:nvPr/>
        </p:nvSpPr>
        <p:spPr>
          <a:xfrm>
            <a:off x="1117600" y="1948160"/>
            <a:ext cx="47091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5B564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Initial assumption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17600" y="2349450"/>
            <a:ext cx="4709160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Symmetric 4-bit quantization (W4A4) would suffice for both weights and activations.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197600" y="1643360"/>
            <a:ext cx="5181600" cy="2423765"/>
          </a:xfrm>
          <a:prstGeom prst="roundRect">
            <a:avLst>
              <a:gd name="adj" fmla="val 4192"/>
            </a:avLst>
          </a:prstGeom>
          <a:solidFill>
            <a:srgbClr val="14181F"/>
          </a:solidFill>
          <a:ln/>
        </p:spPr>
      </p:sp>
      <p:sp>
        <p:nvSpPr>
          <p:cNvPr id="7" name="Text 5"/>
          <p:cNvSpPr/>
          <p:nvPr/>
        </p:nvSpPr>
        <p:spPr>
          <a:xfrm>
            <a:off x="6502400" y="1948160"/>
            <a:ext cx="47091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Empirical reality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02400" y="2349450"/>
            <a:ext cx="4709160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channels have massive magnitude spikes. 4-bit activations clipped low-intensity spatial features to zero, and hazard recall dropped sharply.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02400" y="3247975"/>
            <a:ext cx="470916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Fix: keep 8-bit activations (W4A8) and rely on 4-bit weight packing for the 50% bus reduction.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81280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Sprint 2 Goals &amp; Blockers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643360"/>
            <a:ext cx="5181600" cy="1655415"/>
          </a:xfrm>
          <a:prstGeom prst="roundRect">
            <a:avLst>
              <a:gd name="adj" fmla="val 6137"/>
            </a:avLst>
          </a:prstGeom>
          <a:solidFill>
            <a:srgbClr val="1F2530"/>
          </a:solidFill>
          <a:ln/>
        </p:spPr>
      </p:sp>
      <p:sp>
        <p:nvSpPr>
          <p:cNvPr id="4" name="Text 2"/>
          <p:cNvSpPr/>
          <p:nvPr/>
        </p:nvSpPr>
        <p:spPr>
          <a:xfrm>
            <a:off x="1066800" y="1897360"/>
            <a:ext cx="481380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goal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66800" y="2273250"/>
            <a:ext cx="4813808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Write, simulate and verify synthesizable SystemVerilog RTL for the sub-byte unpacker and DSP48-mapped MAC array in Vivado xsim.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97600" y="1643360"/>
            <a:ext cx="5181600" cy="1655415"/>
          </a:xfrm>
          <a:prstGeom prst="roundRect">
            <a:avLst>
              <a:gd name="adj" fmla="val 6137"/>
            </a:avLst>
          </a:prstGeom>
          <a:solidFill>
            <a:srgbClr val="1F2530"/>
          </a:solidFill>
          <a:ln/>
        </p:spPr>
      </p:sp>
      <p:sp>
        <p:nvSpPr>
          <p:cNvPr id="7" name="Text 5"/>
          <p:cNvSpPr/>
          <p:nvPr/>
        </p:nvSpPr>
        <p:spPr>
          <a:xfrm>
            <a:off x="6451600" y="1897360"/>
            <a:ext cx="4813808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E8833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we are stuck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51600" y="2273250"/>
            <a:ext cx="4813808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4F1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Have not yet procured the hardware to test out the FPGA SystemVerilog. Need more time capacity in Sprint 2 in order to meet Vivado simulation goals. 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2800" y="3603575"/>
            <a:ext cx="10566400" cy="1582390"/>
          </a:xfrm>
          <a:prstGeom prst="roundRect">
            <a:avLst>
              <a:gd name="adj" fmla="val 6421"/>
            </a:avLst>
          </a:prstGeom>
          <a:solidFill>
            <a:srgbClr val="E8833A"/>
          </a:solidFill>
          <a:ln/>
        </p:spPr>
      </p:sp>
      <p:sp>
        <p:nvSpPr>
          <p:cNvPr id="10" name="Text 8"/>
          <p:cNvSpPr/>
          <p:nvPr/>
        </p:nvSpPr>
        <p:spPr>
          <a:xfrm>
            <a:off x="1066800" y="3857575"/>
            <a:ext cx="10360152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418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 Moving Forward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4270" y="4131866"/>
            <a:ext cx="1027506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6530" indent="-176530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AF9F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Redirect additional 7 hours weekly</a:t>
            </a:r>
            <a:endParaRPr lang="en-US" sz="1500" dirty="0"/>
          </a:p>
          <a:p>
            <a:pPr algn="l" marL="176530" indent="-176530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AF9F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 with Osama to procure hardware</a:t>
            </a:r>
            <a:endParaRPr lang="en-US" sz="1500" dirty="0"/>
          </a:p>
          <a:p>
            <a:pPr algn="l" marL="176530" indent="-176530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AF9F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Prepare tests and firmware tooling for out of the box testing once procured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ge-ViT-Acc">
  <a:themeElements>
    <a:clrScheme name="Edge-ViT-Acc">
      <a:dk1>
        <a:srgbClr val="14181F"/>
      </a:dk1>
      <a:lt1>
        <a:srgbClr val="F4F1EA"/>
      </a:lt1>
      <a:dk2>
        <a:srgbClr val="2A2E33"/>
      </a:dk2>
      <a:lt2>
        <a:srgbClr val="BCBBB7"/>
      </a:lt2>
      <a:accent1>
        <a:srgbClr val="E8833A"/>
      </a:accent1>
      <a:accent2>
        <a:srgbClr val="C2571A"/>
      </a:accent2>
      <a:accent3>
        <a:srgbClr val="5B5648"/>
      </a:accent3>
      <a:accent4>
        <a:srgbClr val="C9C5BB"/>
      </a:accent4>
      <a:accent5>
        <a:srgbClr val="9AA0A6"/>
      </a:accent5>
      <a:accent6>
        <a:srgbClr val="9A9A99"/>
      </a:accent6>
      <a:hlink>
        <a:srgbClr val="0563C1"/>
      </a:hlink>
      <a:folHlink>
        <a:srgbClr val="954F72"/>
      </a:folHlink>
    </a:clrScheme>
    <a:fontScheme name="Edge-ViT-Acc">
      <a:majorFont>
        <a:latin typeface="Helvetica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 Neu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Edge-ViT-Acc</dc:title>
  <dc:subject/>
  <dc:creator/>
  <cp:lastModifiedBy/>
  <cp:revision>1</cp:revision>
  <dcterms:created xsi:type="dcterms:W3CDTF">2026-10-14T15:55:51Z</dcterms:created>
  <dcterms:modified xsi:type="dcterms:W3CDTF">2026-10-14T15:55:51Z</dcterms:modified>
</cp:coreProperties>
</file>