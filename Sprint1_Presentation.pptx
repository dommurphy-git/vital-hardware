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604"/>
    <p:restoredTop sz="94610"/>
  </p:normalViewPr>
  <p:slideViewPr>
    <p:cSldViewPr snapToGrid="0" snapToObjects="1">
      <p:cViewPr varScale="1">
        <p:scale>
          <a:sx n="147" d="100"/>
          <a:sy n="147" d="100"/>
        </p:scale>
        <p:origin x="224" y="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4023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2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F4F1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643360"/>
            <a:ext cx="10566400" cy="440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4F1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2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F4F1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643360"/>
            <a:ext cx="10566400" cy="440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4F1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02565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E8833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HARDWARE-SOFTWARE CO-DESIGN · SPRINT 1</a:t>
            </a:r>
            <a:endParaRPr lang="en-US" sz="16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2615605"/>
            <a:ext cx="10883392" cy="985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7560"/>
              </a:lnSpc>
              <a:buNone/>
            </a:pPr>
            <a:r>
              <a:rPr lang="en-US" sz="7200" b="1" i="0" dirty="0">
                <a:solidFill>
                  <a:srgbClr val="F4F1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ViTAl-Hardware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812800" y="3879850"/>
            <a:ext cx="10883392" cy="751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60"/>
              </a:lnSpc>
              <a:buNone/>
            </a:pPr>
            <a:r>
              <a:rPr lang="en-US" sz="2200" dirty="0">
                <a:solidFill>
                  <a:srgbClr val="C9C5B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Vision Transformer Acceleration Hardware: ViT attention on edge FPGAs for autonomous robotics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12800" y="5265638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C9C5B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Dominic Murphy · Boston University ECE · EC601 (Solo Project)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83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3758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60"/>
              </a:lnSpc>
              <a:buNone/>
            </a:pPr>
            <a:r>
              <a:rPr lang="en-US" sz="2400" b="1" i="0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Mission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812800" y="1682229"/>
            <a:ext cx="5694783" cy="3108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454"/>
              </a:lnSpc>
              <a:buNone/>
            </a:pPr>
            <a:r>
              <a:rPr lang="en-US" sz="2878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Build a </a:t>
            </a:r>
            <a:r>
              <a:rPr lang="en-US" sz="2878" b="1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heterogeneous</a:t>
            </a:r>
            <a:r>
              <a:rPr lang="en-US" sz="2878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sub-byte quantized streaming attention accelerator on an AMD Zynq SoC that processes ViT patch blocks within a </a:t>
            </a:r>
            <a:r>
              <a:rPr lang="en-US" sz="2878" b="1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deterministic</a:t>
            </a:r>
            <a:r>
              <a:rPr lang="en-US" sz="2878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</a:t>
            </a:r>
            <a:r>
              <a:rPr lang="en-US" sz="2878" b="1" dirty="0">
                <a:solidFill>
                  <a:srgbClr val="C257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sub-33 ms deadline</a:t>
            </a:r>
            <a:r>
              <a:rPr lang="en-US" sz="2878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under a </a:t>
            </a:r>
            <a:r>
              <a:rPr lang="en-US" sz="2878" b="1" dirty="0">
                <a:solidFill>
                  <a:srgbClr val="C257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 W thermal envelope</a:t>
            </a:r>
            <a:r>
              <a:rPr lang="en-US" sz="2878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</a:t>
            </a:r>
            <a:endParaRPr lang="en-US" sz="2878" dirty="0"/>
          </a:p>
        </p:txBody>
      </p:sp>
      <p:sp>
        <p:nvSpPr>
          <p:cNvPr id="4" name="Text 2"/>
          <p:cNvSpPr/>
          <p:nvPr/>
        </p:nvSpPr>
        <p:spPr>
          <a:xfrm>
            <a:off x="812800" y="5714702"/>
            <a:ext cx="10883392" cy="7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Iteration: </a:t>
            </a:r>
            <a:endParaRPr lang="en-US" sz="1500" dirty="0"/>
          </a:p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Scoped down from a full multi-layer transformer: resource modeling showed non-linear layers plus GEMMs would exceed logic and BRAM limits on the XC7Z020. The focus is the memory-choked Multi-Head Self-Attention score pipeline.</a:t>
            </a:r>
            <a:endParaRPr lang="en-US" sz="1500" dirty="0"/>
          </a:p>
        </p:txBody>
      </p:sp>
      <p:pic>
        <p:nvPicPr>
          <p:cNvPr id="5" name="Image 0" descr="image.png"/>
          <p:cNvPicPr>
            <a:picLocks noChangeAspect="1"/>
          </p:cNvPicPr>
          <p:nvPr/>
        </p:nvPicPr>
        <p:blipFill>
          <a:blip r:embed="rId3"/>
          <a:srcRect l="10467" t="9076" r="9686" b="42349"/>
          <a:stretch/>
        </p:blipFill>
        <p:spPr>
          <a:xfrm>
            <a:off x="6734919" y="1941686"/>
            <a:ext cx="4889599" cy="29746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User Stories &amp; Sprint 1 Scope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5975" y="1584325"/>
            <a:ext cx="10560050" cy="508843"/>
          </a:xfrm>
          <a:prstGeom prst="roundRect">
            <a:avLst>
              <a:gd name="adj" fmla="val 14351"/>
            </a:avLst>
          </a:prstGeom>
          <a:solidFill>
            <a:srgbClr val="FFFFFF"/>
          </a:solidFill>
          <a:ln w="6350">
            <a:solidFill>
              <a:srgbClr val="D9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96950" y="1705372"/>
            <a:ext cx="406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257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#1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530350" y="1705372"/>
            <a:ext cx="743000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Toolchain setup &amp; PYNQ-Z2 board bring-up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921750" y="1723182"/>
            <a:ext cx="8763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5B564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 tasks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934575" y="1675557"/>
            <a:ext cx="1250950" cy="326380"/>
          </a:xfrm>
          <a:custGeom>
            <a:avLst/>
            <a:gdLst/>
            <a:ahLst/>
            <a:cxnLst/>
            <a:rect l="l" t="t" r="r" b="b"/>
            <a:pathLst>
              <a:path w="1250950" h="326380">
                <a:moveTo>
                  <a:pt x="41275" y="0"/>
                </a:moveTo>
                <a:lnTo>
                  <a:pt x="1209675" y="0"/>
                </a:lnTo>
                <a:arcTo wR="41275" hR="41275" stAng="16200000" swAng="5400000"/>
                <a:lnTo>
                  <a:pt x="1250950" y="285105"/>
                </a:lnTo>
                <a:arcTo wR="41275" hR="41275" stAng="0" swAng="5400000"/>
                <a:lnTo>
                  <a:pt x="41275" y="326380"/>
                </a:lnTo>
                <a:arcTo wR="41275" hR="41275" stAng="5400000" swAng="5400000"/>
                <a:lnTo>
                  <a:pt x="0" y="41275"/>
                </a:lnTo>
                <a:arcTo wR="41275" hR="41275" stAng="10800000" swAng="5400000"/>
                <a:close/>
              </a:path>
            </a:pathLst>
          </a:custGeom>
          <a:noFill/>
          <a:ln w="19050">
            <a:solidFill>
              <a:srgbClr val="E8833A"/>
            </a:solidFill>
            <a:prstDash val="solid"/>
          </a:ln>
        </p:spPr>
        <p:txBody>
          <a:bodyPr wrap="square" lIns="9525" tIns="47625" rIns="9525" bIns="22225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dirty="0">
                <a:solidFill>
                  <a:srgbClr val="5B564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 Procurement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15975" y="2175718"/>
            <a:ext cx="10560050" cy="484932"/>
          </a:xfrm>
          <a:prstGeom prst="roundRect">
            <a:avLst>
              <a:gd name="adj" fmla="val 15059"/>
            </a:avLst>
          </a:prstGeom>
          <a:solidFill>
            <a:srgbClr val="FFFFFF"/>
          </a:solidFill>
          <a:ln w="6350">
            <a:solidFill>
              <a:srgbClr val="D9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96950" y="2284809"/>
            <a:ext cx="406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257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#2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530350" y="2284809"/>
            <a:ext cx="743000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Isolate ViT attention block &amp; FP32 baseline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921750" y="2302619"/>
            <a:ext cx="8763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5B564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tasks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928225" y="2261344"/>
            <a:ext cx="1263650" cy="313680"/>
          </a:xfrm>
          <a:prstGeom prst="roundRect">
            <a:avLst>
              <a:gd name="adj" fmla="val 15183"/>
            </a:avLst>
          </a:prstGeom>
          <a:noFill/>
          <a:ln w="6350">
            <a:solidFill>
              <a:srgbClr val="9A9486"/>
            </a:solidFill>
            <a:prstDash val="solid"/>
          </a:ln>
        </p:spPr>
        <p:txBody>
          <a:bodyPr wrap="square" lIns="0" tIns="27326" rIns="0" bIns="1926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dirty="0">
                <a:solidFill>
                  <a:srgbClr val="5B564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 do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5975" y="2743200"/>
            <a:ext cx="10560050" cy="508843"/>
          </a:xfrm>
          <a:prstGeom prst="roundRect">
            <a:avLst>
              <a:gd name="adj" fmla="val 14351"/>
            </a:avLst>
          </a:prstGeom>
          <a:solidFill>
            <a:srgbClr val="FFFFFF"/>
          </a:solidFill>
          <a:ln w="6350">
            <a:solidFill>
              <a:srgbClr val="D9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96950" y="2864247"/>
            <a:ext cx="406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257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#3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530350" y="2864247"/>
            <a:ext cx="743000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Implement &amp; verify W4A8 asymmetric quantization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921750" y="2882057"/>
            <a:ext cx="8763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5B564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tasks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934575" y="2834432"/>
            <a:ext cx="1250950" cy="326380"/>
          </a:xfrm>
          <a:prstGeom prst="roundRect">
            <a:avLst>
              <a:gd name="adj" fmla="val 12646"/>
            </a:avLst>
          </a:prstGeom>
          <a:noFill/>
          <a:ln w="19050">
            <a:solidFill>
              <a:srgbClr val="E8833A"/>
            </a:solidFill>
            <a:prstDash val="solid"/>
          </a:ln>
        </p:spPr>
        <p:txBody>
          <a:bodyPr wrap="square" lIns="0" tIns="35536" rIns="0" bIns="10136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dirty="0">
                <a:solidFill>
                  <a:srgbClr val="5B564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 Progress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5975" y="3334593"/>
            <a:ext cx="10560050" cy="508843"/>
          </a:xfrm>
          <a:prstGeom prst="roundRect">
            <a:avLst>
              <a:gd name="adj" fmla="val 14351"/>
            </a:avLst>
          </a:prstGeom>
          <a:solidFill>
            <a:srgbClr val="FFFFFF"/>
          </a:solidFill>
          <a:ln w="6350">
            <a:solidFill>
              <a:srgbClr val="D9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96950" y="3455640"/>
            <a:ext cx="406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257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#4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530350" y="3455640"/>
            <a:ext cx="743000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Bit-accurate Base-2 streaming softmax model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921750" y="3473450"/>
            <a:ext cx="8763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5B564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tasks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934575" y="3425825"/>
            <a:ext cx="1250950" cy="326380"/>
          </a:xfrm>
          <a:prstGeom prst="roundRect">
            <a:avLst>
              <a:gd name="adj" fmla="val 12646"/>
            </a:avLst>
          </a:prstGeom>
          <a:noFill/>
          <a:ln w="19050">
            <a:solidFill>
              <a:srgbClr val="C2571A"/>
            </a:solidFill>
            <a:prstDash val="solid"/>
          </a:ln>
        </p:spPr>
        <p:txBody>
          <a:bodyPr wrap="square" lIns="0" tIns="35536" rIns="0" bIns="10136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dirty="0">
                <a:solidFill>
                  <a:srgbClr val="5B564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 Testing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15975" y="3925987"/>
            <a:ext cx="10560050" cy="484932"/>
          </a:xfrm>
          <a:prstGeom prst="roundRect">
            <a:avLst>
              <a:gd name="adj" fmla="val 15059"/>
            </a:avLst>
          </a:prstGeom>
          <a:solidFill>
            <a:srgbClr val="FFFFFF"/>
          </a:solidFill>
          <a:ln w="6350">
            <a:solidFill>
              <a:srgbClr val="D9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96950" y="4035078"/>
            <a:ext cx="406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257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#5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530350" y="4035078"/>
            <a:ext cx="743000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Binary golden test vectors for RTL verification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921750" y="4052888"/>
            <a:ext cx="8763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5B564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 tasks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928225" y="4011613"/>
            <a:ext cx="1263650" cy="313680"/>
          </a:xfrm>
          <a:prstGeom prst="roundRect">
            <a:avLst>
              <a:gd name="adj" fmla="val 15183"/>
            </a:avLst>
          </a:prstGeom>
          <a:noFill/>
          <a:ln w="6350">
            <a:solidFill>
              <a:srgbClr val="9A9486"/>
            </a:solidFill>
            <a:prstDash val="solid"/>
          </a:ln>
        </p:spPr>
        <p:txBody>
          <a:bodyPr wrap="square" lIns="0" tIns="27326" rIns="0" bIns="1926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dirty="0">
                <a:solidFill>
                  <a:srgbClr val="5B564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 do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19150" y="4496643"/>
            <a:ext cx="10553700" cy="479375"/>
          </a:xfrm>
          <a:prstGeom prst="roundRect">
            <a:avLst>
              <a:gd name="adj" fmla="val 14571"/>
            </a:avLst>
          </a:prstGeom>
          <a:solidFill>
            <a:srgbClr val="FDEEE0"/>
          </a:solidFill>
          <a:ln w="12700">
            <a:solidFill>
              <a:srgbClr val="E883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003300" y="4602956"/>
            <a:ext cx="406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257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#6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536700" y="4602956"/>
            <a:ext cx="74169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Workflow, knowledge management &amp; AI tooling setup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915400" y="4620766"/>
            <a:ext cx="8763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5B564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tasks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918700" y="4582666"/>
            <a:ext cx="1270000" cy="307330"/>
          </a:xfrm>
          <a:prstGeom prst="roundRect">
            <a:avLst>
              <a:gd name="adj" fmla="val 16529"/>
            </a:avLst>
          </a:prstGeom>
          <a:solidFill>
            <a:srgbClr val="E8833A"/>
          </a:solidFill>
          <a:ln/>
        </p:spPr>
        <p:txBody>
          <a:bodyPr wrap="square" lIns="0" tIns="23221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Complete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15975" y="5061744"/>
            <a:ext cx="10560050" cy="484981"/>
          </a:xfrm>
          <a:prstGeom prst="roundRect">
            <a:avLst>
              <a:gd name="adj" fmla="val 15057"/>
            </a:avLst>
          </a:prstGeom>
          <a:solidFill>
            <a:srgbClr val="FFFFFF"/>
          </a:solidFill>
          <a:ln w="6350">
            <a:solidFill>
              <a:srgbClr val="D9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996950" y="5170884"/>
            <a:ext cx="406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257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#7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530350" y="5170884"/>
            <a:ext cx="743000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Project definition, feasibility &amp; baseline docs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8921750" y="5188645"/>
            <a:ext cx="8763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5B564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tasks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928225" y="5147419"/>
            <a:ext cx="1263650" cy="313680"/>
          </a:xfrm>
          <a:prstGeom prst="roundRect">
            <a:avLst>
              <a:gd name="adj" fmla="val 15183"/>
            </a:avLst>
          </a:prstGeom>
          <a:noFill/>
          <a:ln w="6350">
            <a:solidFill>
              <a:srgbClr val="9A9486"/>
            </a:solidFill>
            <a:prstDash val="solid"/>
          </a:ln>
        </p:spPr>
        <p:txBody>
          <a:bodyPr wrap="square" lIns="0" tIns="27326" rIns="0" bIns="1926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dirty="0">
                <a:solidFill>
                  <a:srgbClr val="5B564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 do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12800" y="579755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B564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 of 7 issues complete · Issue #6 delivered: Obsidian vault, MOC and prompts_and_logs/ archive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Toolchain &amp; Environment</a:t>
            </a:r>
            <a:endParaRPr lang="en-US" sz="3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656060"/>
          <a:ext cx="10553700" cy="2743200"/>
        </p:xfrm>
        <a:graphic>
          <a:graphicData uri="http://schemas.openxmlformats.org/drawingml/2006/table">
            <a:tbl>
              <a:tblPr/>
              <a:tblGrid>
                <a:gridCol w="5276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76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2750"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1418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Tool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1418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Primary reason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9450"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418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AMD Vivado ML Standard 2023.2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418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Free tier supports XC7Z020; timing closure and ILA debugging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418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PyTorch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418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Golden model, float-to-fixed conversion, outlier profiling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418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TUL PYNQ-Z2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418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Zynq-7000 SoC with ARM-to-PL AXI interconnect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418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Obsidian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418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Paper synthesis and prompt logging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418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GitHub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418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Issue tracking and version control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F4F1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Sprint 1 Progress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2800" y="1643360"/>
            <a:ext cx="3386634" cy="2369790"/>
          </a:xfrm>
          <a:prstGeom prst="roundRect">
            <a:avLst>
              <a:gd name="adj" fmla="val 4287"/>
            </a:avLst>
          </a:prstGeom>
          <a:solidFill>
            <a:srgbClr val="1F25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66800" y="1897360"/>
            <a:ext cx="2964993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E8833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Literature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66800" y="2273250"/>
            <a:ext cx="2964993" cy="1511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00" dirty="0">
                <a:solidFill>
                  <a:srgbClr val="F4F1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 foundational papers, including FlashAttention and FlexViT. Key insight: edge FPGA bottlenecks come from memory I/O contention, not arithmetic capacity.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402634" y="1643360"/>
            <a:ext cx="3386683" cy="2369790"/>
          </a:xfrm>
          <a:prstGeom prst="roundRect">
            <a:avLst>
              <a:gd name="adj" fmla="val 4287"/>
            </a:avLst>
          </a:prstGeom>
          <a:solidFill>
            <a:srgbClr val="1F25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656634" y="1897360"/>
            <a:ext cx="2965044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E8833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Setup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656634" y="2273250"/>
            <a:ext cx="2965044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00" dirty="0">
                <a:solidFill>
                  <a:srgbClr val="F4F1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Reproducible Python environment, pending flash to PYNQ-Z2 hardware, configured Obsidian research vault.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992517" y="1643360"/>
            <a:ext cx="3386683" cy="2369790"/>
          </a:xfrm>
          <a:prstGeom prst="roundRect">
            <a:avLst>
              <a:gd name="adj" fmla="val 4287"/>
            </a:avLst>
          </a:prstGeom>
          <a:solidFill>
            <a:srgbClr val="1F25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246517" y="1897360"/>
            <a:ext cx="2965044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E8833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runs today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46517" y="2273250"/>
            <a:ext cx="2965044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00" dirty="0">
                <a:solidFill>
                  <a:srgbClr val="F4F1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bit-accurate NumPy/Python simulation of the online running-max and running-sum recurrence equations.</a:t>
            </a:r>
            <a:endParaRPr lang="en-US" sz="15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D39947C-C051-E677-7B57-D046BC8BF11C}"/>
              </a:ext>
            </a:extLst>
          </p:cNvPr>
          <p:cNvSpPr txBox="1"/>
          <p:nvPr/>
        </p:nvSpPr>
        <p:spPr>
          <a:xfrm>
            <a:off x="722811" y="4208094"/>
            <a:ext cx="6096000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i="0">
                <a:solidFill>
                  <a:schemeClr val="tx1"/>
                </a:solidFill>
                <a:effectLst/>
                <a:latin typeface="+mn-lt"/>
              </a:rPr>
              <a:t>NumPy model vs. PyTorch Softmax</a:t>
            </a:r>
            <a:endParaRPr lang="en-US"/>
          </a:p>
        </p:txBody>
      </p:sp>
      <p:sp>
        <p:nvSpPr>
          <p:cNvPr id="14" name="Shape 1">
            <a:extLst>
              <a:ext uri="{FF2B5EF4-FFF2-40B4-BE49-F238E27FC236}">
                <a16:creationId xmlns:a16="http://schemas.microsoft.com/office/drawing/2014/main" id="{935F180A-8B55-B4AC-5DE5-FD705DB3E142}"/>
              </a:ext>
            </a:extLst>
          </p:cNvPr>
          <p:cNvSpPr/>
          <p:nvPr/>
        </p:nvSpPr>
        <p:spPr>
          <a:xfrm>
            <a:off x="812800" y="4749287"/>
            <a:ext cx="2879634" cy="1573631"/>
          </a:xfrm>
          <a:prstGeom prst="roundRect">
            <a:avLst>
              <a:gd name="adj" fmla="val 4287"/>
            </a:avLst>
          </a:prstGeom>
          <a:solidFill>
            <a:schemeClr val="tx2"/>
          </a:solidFill>
          <a:ln/>
        </p:spPr>
        <p:txBody>
          <a:bodyPr/>
          <a:lstStyle/>
          <a:p>
            <a:r>
              <a:rPr lang="en-US" sz="1400" b="1">
                <a:solidFill>
                  <a:schemeClr val="bg1"/>
                </a:solidFill>
              </a:rPr>
              <a:t>SOFTMAX PROBABILITIES</a:t>
            </a:r>
          </a:p>
          <a:p>
            <a:r>
              <a:rPr lang="en-US"/>
              <a:t>0.00229 </a:t>
            </a:r>
          </a:p>
          <a:p>
            <a:r>
              <a:rPr lang="en-US">
                <a:solidFill>
                  <a:schemeClr val="bg1"/>
                </a:solidFill>
              </a:rPr>
              <a:t>MAX ABS ERROR · PASS</a:t>
            </a:r>
            <a:r>
              <a:rPr lang="en-US"/>
              <a:t> </a:t>
            </a:r>
            <a:r>
              <a:rPr lang="en-US" sz="1200"/>
              <a:t>allowed: 2% relative + 0.0002 absolute</a:t>
            </a:r>
          </a:p>
        </p:txBody>
      </p:sp>
      <p:sp>
        <p:nvSpPr>
          <p:cNvPr id="18" name="Shape 1">
            <a:extLst>
              <a:ext uri="{FF2B5EF4-FFF2-40B4-BE49-F238E27FC236}">
                <a16:creationId xmlns:a16="http://schemas.microsoft.com/office/drawing/2014/main" id="{906B14F6-6500-FEC4-D00C-ADA1031098B2}"/>
              </a:ext>
            </a:extLst>
          </p:cNvPr>
          <p:cNvSpPr/>
          <p:nvPr/>
        </p:nvSpPr>
        <p:spPr>
          <a:xfrm>
            <a:off x="4057918" y="4749287"/>
            <a:ext cx="2879634" cy="1573631"/>
          </a:xfrm>
          <a:prstGeom prst="roundRect">
            <a:avLst>
              <a:gd name="adj" fmla="val 4287"/>
            </a:avLst>
          </a:prstGeom>
          <a:solidFill>
            <a:schemeClr val="tx2"/>
          </a:solidFill>
          <a:ln/>
        </p:spPr>
        <p:txBody>
          <a:bodyPr/>
          <a:lstStyle/>
          <a:p>
            <a:r>
              <a:rPr lang="en-US" sz="1400" b="1">
                <a:solidFill>
                  <a:schemeClr val="bg1"/>
                </a:solidFill>
              </a:rPr>
              <a:t>STREAMING ATTENTION OUTPUTS</a:t>
            </a:r>
          </a:p>
          <a:p>
            <a:r>
              <a:rPr lang="en-US"/>
              <a:t>0.00116 </a:t>
            </a:r>
          </a:p>
          <a:p>
            <a:r>
              <a:rPr lang="en-US">
                <a:solidFill>
                  <a:schemeClr val="bg1"/>
                </a:solidFill>
              </a:rPr>
              <a:t>MAX ABS ERROR · PASS</a:t>
            </a:r>
            <a:r>
              <a:rPr lang="en-US"/>
              <a:t> </a:t>
            </a:r>
            <a:r>
              <a:rPr lang="en-US" sz="1200"/>
              <a:t>allowed: 2.5% relative + 0.002 absolute</a:t>
            </a:r>
          </a:p>
        </p:txBody>
      </p:sp>
      <p:sp>
        <p:nvSpPr>
          <p:cNvPr id="19" name="Shape 1">
            <a:extLst>
              <a:ext uri="{FF2B5EF4-FFF2-40B4-BE49-F238E27FC236}">
                <a16:creationId xmlns:a16="http://schemas.microsoft.com/office/drawing/2014/main" id="{977A2C20-46DC-3436-92AE-50D0BF757104}"/>
              </a:ext>
            </a:extLst>
          </p:cNvPr>
          <p:cNvSpPr/>
          <p:nvPr/>
        </p:nvSpPr>
        <p:spPr>
          <a:xfrm>
            <a:off x="7303036" y="4749287"/>
            <a:ext cx="2879634" cy="1573631"/>
          </a:xfrm>
          <a:prstGeom prst="roundRect">
            <a:avLst>
              <a:gd name="adj" fmla="val 4287"/>
            </a:avLst>
          </a:prstGeom>
          <a:solidFill>
            <a:schemeClr val="tx2"/>
          </a:solidFill>
          <a:ln/>
        </p:spPr>
        <p:txBody>
          <a:bodyPr/>
          <a:lstStyle/>
          <a:p>
            <a:r>
              <a:rPr lang="en-US" sz="1400" b="1">
                <a:solidFill>
                  <a:schemeClr val="bg1"/>
                </a:solidFill>
              </a:rPr>
              <a:t>STREAMING / STORAGE CHECK</a:t>
            </a:r>
          </a:p>
          <a:p>
            <a:r>
              <a:rPr lang="en-US" sz="1400"/>
              <a:t>NO N × N SCORE MATRIX</a:t>
            </a:r>
          </a:p>
          <a:p>
            <a:r>
              <a:rPr lang="en-US" sz="1200" b="1">
                <a:solidFill>
                  <a:schemeClr val="bg1"/>
                </a:solidFill>
              </a:rPr>
              <a:t>TILE SIZES 13 AND 64 → IDENTICAL OUTPUT</a:t>
            </a:r>
          </a:p>
          <a:p>
            <a:r>
              <a:rPr lang="en-US" sz="1200"/>
              <a:t>196 keys · 32-d query · 16-d output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Engineering Reflection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2800" y="1643360"/>
            <a:ext cx="5181600" cy="2423765"/>
          </a:xfrm>
          <a:prstGeom prst="roundRect">
            <a:avLst>
              <a:gd name="adj" fmla="val 4192"/>
            </a:avLst>
          </a:prstGeom>
          <a:solidFill>
            <a:srgbClr val="E6E1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17600" y="1948160"/>
            <a:ext cx="4709160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5B564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Initial assumption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17600" y="2349450"/>
            <a:ext cx="4709160" cy="91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Symmetric 4-bit quantization (W4A4) would suffice for both weights and activations.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197600" y="1643360"/>
            <a:ext cx="5181600" cy="2423765"/>
          </a:xfrm>
          <a:prstGeom prst="roundRect">
            <a:avLst>
              <a:gd name="adj" fmla="val 4192"/>
            </a:avLst>
          </a:prstGeom>
          <a:solidFill>
            <a:srgbClr val="1418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02400" y="1948160"/>
            <a:ext cx="4709160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E8833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Empirical reality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02400" y="2349450"/>
            <a:ext cx="4709160" cy="7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F4F1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Activation channels have massive magnitude spikes. 4-bit activations clipped low-intensity spatial features to zero, and hazard recall dropped sharply.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02400" y="3247975"/>
            <a:ext cx="4709160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F4F1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Fix: keep 8-bit activations (W4A8) and rely on 4-bit weight packing for the 50% bus reduction.</a:t>
            </a:r>
            <a:endParaRPr lang="en-US" sz="15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DC51FFE4-2651-0E48-B18F-F37520BEEF36}"/>
              </a:ext>
            </a:extLst>
          </p:cNvPr>
          <p:cNvSpPr/>
          <p:nvPr/>
        </p:nvSpPr>
        <p:spPr>
          <a:xfrm>
            <a:off x="812800" y="4462810"/>
            <a:ext cx="10566400" cy="1582390"/>
          </a:xfrm>
          <a:prstGeom prst="roundRect">
            <a:avLst>
              <a:gd name="adj" fmla="val 6421"/>
            </a:avLst>
          </a:prstGeom>
          <a:solidFill>
            <a:srgbClr val="E8833A"/>
          </a:solidFill>
          <a:ln/>
        </p:spPr>
        <p:txBody>
          <a:bodyPr/>
          <a:lstStyle/>
          <a:p>
            <a:r>
              <a:rPr lang="en-US" sz="1200"/>
              <a:t>Created base2_softmax.py, implementing a Q15 exponential with a 64-entry fractional LUT, fixed-point score quantization, and the online max/sum recurrence. Its attention path processes key/value blocks and avoids materializing an N×N score matrix. Added usage and precision notes to README.md.</a:t>
            </a:r>
          </a:p>
          <a:p>
            <a:endParaRPr lang="en-US" sz="1200"/>
          </a:p>
          <a:p>
            <a:r>
              <a:rPr lang="en-US" sz="1200"/>
              <a:t>Validation passed: python3 base2_softmax.py --self-test verified the LUT, recurrence, normalization, and PyTorch Softmax comparisons; python3 -m py_compile base2_softmax.py and git diff --check also passed. PyTorch parity is numerical within the test tolerances—not bit-identical to floating-point Softmax, because the LUT and fixed-point arithmetic are approximations.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F4F1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Sprint 2 Goals &amp; Blockers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2800" y="1643360"/>
            <a:ext cx="5181600" cy="1655415"/>
          </a:xfrm>
          <a:prstGeom prst="roundRect">
            <a:avLst>
              <a:gd name="adj" fmla="val 6137"/>
            </a:avLst>
          </a:prstGeom>
          <a:solidFill>
            <a:srgbClr val="1F25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66800" y="1897360"/>
            <a:ext cx="4813808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E8833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goal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66800" y="2273250"/>
            <a:ext cx="4813808" cy="7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F4F1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Write, simulate and verify synthesizable SystemVerilog RTL for the sub-byte unpacker and DSP48-mapped MAC array in Vivado xsim.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97600" y="1643360"/>
            <a:ext cx="5181600" cy="1655415"/>
          </a:xfrm>
          <a:prstGeom prst="roundRect">
            <a:avLst>
              <a:gd name="adj" fmla="val 6137"/>
            </a:avLst>
          </a:prstGeom>
          <a:solidFill>
            <a:srgbClr val="1F25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51600" y="1897360"/>
            <a:ext cx="4813808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E8833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Where we are stuck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51600" y="2273250"/>
            <a:ext cx="4813808" cy="7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F4F1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Have not yet procured the hardware to test out the FPGA SystemVerilog. Need more time capacity in Sprint 2 in order to meet Vivado simulation goals. 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12800" y="3603575"/>
            <a:ext cx="10566400" cy="1582390"/>
          </a:xfrm>
          <a:prstGeom prst="roundRect">
            <a:avLst>
              <a:gd name="adj" fmla="val 6421"/>
            </a:avLst>
          </a:prstGeom>
          <a:solidFill>
            <a:srgbClr val="E883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66800" y="3857575"/>
            <a:ext cx="10360152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Plan Moving Forward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44270" y="4131866"/>
            <a:ext cx="10275062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6530" indent="-176530" algn="l">
              <a:lnSpc>
                <a:spcPts val="2100"/>
              </a:lnSpc>
              <a:buSzPct val="100000"/>
              <a:buChar char="•"/>
            </a:pPr>
            <a:r>
              <a:rPr lang="en-US" sz="1500" dirty="0">
                <a:solidFill>
                  <a:srgbClr val="FAF9F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Redirect additional 7 hours weekly</a:t>
            </a:r>
            <a:endParaRPr lang="en-US" sz="1500" dirty="0"/>
          </a:p>
          <a:p>
            <a:pPr marL="176530" indent="-176530" algn="l">
              <a:lnSpc>
                <a:spcPts val="2100"/>
              </a:lnSpc>
              <a:buSzPct val="100000"/>
              <a:buChar char="•"/>
            </a:pPr>
            <a:r>
              <a:rPr lang="en-US" sz="1500" dirty="0">
                <a:solidFill>
                  <a:srgbClr val="FAF9F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Work with Osama to procure hardware</a:t>
            </a:r>
            <a:endParaRPr lang="en-US" sz="1500" dirty="0"/>
          </a:p>
          <a:p>
            <a:pPr marL="176530" indent="-176530" algn="l">
              <a:lnSpc>
                <a:spcPts val="2100"/>
              </a:lnSpc>
              <a:buSzPct val="100000"/>
              <a:buChar char="•"/>
            </a:pPr>
            <a:r>
              <a:rPr lang="en-US" sz="1500" dirty="0">
                <a:solidFill>
                  <a:srgbClr val="FAF9F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Prepare tests and firmware tooling for out of the box testing once procured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ge-ViT-Acc">
  <a:themeElements>
    <a:clrScheme name="Edge-ViT-Acc">
      <a:dk1>
        <a:srgbClr val="14181F"/>
      </a:dk1>
      <a:lt1>
        <a:srgbClr val="F4F1EA"/>
      </a:lt1>
      <a:dk2>
        <a:srgbClr val="2A2E33"/>
      </a:dk2>
      <a:lt2>
        <a:srgbClr val="BCBBB7"/>
      </a:lt2>
      <a:accent1>
        <a:srgbClr val="E8833A"/>
      </a:accent1>
      <a:accent2>
        <a:srgbClr val="C2571A"/>
      </a:accent2>
      <a:accent3>
        <a:srgbClr val="5B5648"/>
      </a:accent3>
      <a:accent4>
        <a:srgbClr val="C9C5BB"/>
      </a:accent4>
      <a:accent5>
        <a:srgbClr val="9AA0A6"/>
      </a:accent5>
      <a:accent6>
        <a:srgbClr val="9A9A99"/>
      </a:accent6>
      <a:hlink>
        <a:srgbClr val="0563C1"/>
      </a:hlink>
      <a:folHlink>
        <a:srgbClr val="954F72"/>
      </a:folHlink>
    </a:clrScheme>
    <a:fontScheme name="Edge-ViT-Acc">
      <a:majorFont>
        <a:latin typeface="Helvetica Ne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elvetica Neu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676</Words>
  <Application>Microsoft Macintosh PowerPoint</Application>
  <PresentationFormat>Widescreen</PresentationFormat>
  <Paragraphs>94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Helvetica Neue</vt:lpstr>
      <vt:lpstr>Edge-ViT-Acc</vt:lpstr>
      <vt:lpstr>ViTAl-Hardware</vt:lpstr>
      <vt:lpstr>Mission</vt:lpstr>
      <vt:lpstr>User Stories &amp; Sprint 1 Scope</vt:lpstr>
      <vt:lpstr>Toolchain &amp; Environment</vt:lpstr>
      <vt:lpstr>Sprint 1 Progress</vt:lpstr>
      <vt:lpstr>Engineering Reflection</vt:lpstr>
      <vt:lpstr>Sprint 2 Goals &amp; Blockers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Edge-ViT-Acc</dc:title>
  <dc:subject/>
  <dc:creator/>
  <cp:lastModifiedBy>Murphy, Dominic</cp:lastModifiedBy>
  <cp:revision>2</cp:revision>
  <dcterms:created xsi:type="dcterms:W3CDTF">2026-10-14T15:55:51Z</dcterms:created>
  <dcterms:modified xsi:type="dcterms:W3CDTF">2026-10-14T17:24:06Z</dcterms:modified>
</cp:coreProperties>
</file>